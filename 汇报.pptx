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sldIdLst>
    <p:sldId id="325" r:id="rId2"/>
    <p:sldId id="257" r:id="rId3"/>
    <p:sldId id="326" r:id="rId4"/>
    <p:sldId id="327" r:id="rId5"/>
    <p:sldId id="328" r:id="rId6"/>
    <p:sldId id="261" r:id="rId7"/>
    <p:sldId id="329" r:id="rId8"/>
    <p:sldId id="263" r:id="rId9"/>
    <p:sldId id="264" r:id="rId10"/>
    <p:sldId id="330" r:id="rId11"/>
    <p:sldId id="266" r:id="rId12"/>
    <p:sldId id="267" r:id="rId13"/>
    <p:sldId id="331" r:id="rId14"/>
    <p:sldId id="332" r:id="rId15"/>
    <p:sldId id="333" r:id="rId16"/>
    <p:sldId id="271" r:id="rId17"/>
    <p:sldId id="334" r:id="rId18"/>
    <p:sldId id="336" r:id="rId19"/>
    <p:sldId id="335" r:id="rId20"/>
    <p:sldId id="274" r:id="rId21"/>
    <p:sldId id="337" r:id="rId22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7FAE1-3CDB-4B16-9900-BC826497684B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6CE8A3-6E88-4043-A1FA-B2CB20BAFD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275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dirty="0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dirty="0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8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dirty="0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6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7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dirty="0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6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7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dirty="0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6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7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dirty="0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6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7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dirty="0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6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7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99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1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" y="5442444"/>
            <a:ext cx="12186319" cy="1415557"/>
          </a:xfrm>
          <a:prstGeom prst="rect">
            <a:avLst/>
          </a:prstGeom>
        </p:spPr>
      </p:pic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719668" y="116637"/>
            <a:ext cx="10755197" cy="912067"/>
          </a:xfrm>
          <a:prstGeom prst="rect">
            <a:avLst/>
          </a:prstGeom>
        </p:spPr>
        <p:txBody>
          <a:bodyPr vert="horz" lIns="121917" tIns="60958" rIns="121917" bIns="60958" rtlCol="0" anchor="b">
            <a:noAutofit/>
          </a:bodyPr>
          <a:lstStyle/>
          <a:p>
            <a:pPr lvl="0" defTabSz="685165"/>
            <a:r>
              <a:rPr lang="zh-CN" altLang="en-US" dirty="0"/>
              <a:t>单击此处编辑母版标题样式</a:t>
            </a:r>
          </a:p>
        </p:txBody>
      </p:sp>
      <p:sp>
        <p:nvSpPr>
          <p:cNvPr id="19" name="文本占位符 3"/>
          <p:cNvSpPr>
            <a:spLocks noGrp="1"/>
          </p:cNvSpPr>
          <p:nvPr>
            <p:ph type="body" idx="1"/>
          </p:nvPr>
        </p:nvSpPr>
        <p:spPr>
          <a:xfrm>
            <a:off x="719667" y="1149201"/>
            <a:ext cx="10749461" cy="4952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60655" marR="0" lvl="0" indent="-160655" defTabSz="68516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单击此处编辑母版文本样式</a:t>
            </a:r>
          </a:p>
          <a:p>
            <a:pPr marL="349250" marR="0" lvl="1" indent="-160655" defTabSz="68516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</a:pPr>
            <a:r>
              <a:rPr lang="zh-CN" altLang="en-US" dirty="0"/>
              <a:t>第二级</a:t>
            </a:r>
          </a:p>
          <a:p>
            <a:pPr marL="503555" marR="0" lvl="2" indent="-160655" defTabSz="68516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</a:pPr>
            <a:r>
              <a:rPr lang="zh-CN" altLang="en-US" dirty="0"/>
              <a:t>第三级</a:t>
            </a:r>
          </a:p>
          <a:p>
            <a:pPr marL="654685" marR="0" lvl="3" indent="-160655" defTabSz="68516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</a:pPr>
            <a:r>
              <a:rPr lang="zh-CN" altLang="en-US" dirty="0"/>
              <a:t>第四级</a:t>
            </a:r>
          </a:p>
          <a:p>
            <a:pPr marL="808990" marR="0" lvl="4" indent="-160655" defTabSz="68516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</a:pPr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100" b="1" kern="1200" dirty="0">
          <a:solidFill>
            <a:schemeClr val="tx1"/>
          </a:solidFill>
          <a:latin typeface="+mj-lt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altLang="en-US" sz="1400" kern="1200" baseline="0" dirty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200" kern="1200" dirty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100" kern="1200" dirty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000" kern="1200" dirty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000" kern="1200" dirty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lean_render/slid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236829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政府引导基金对科创企业创新的影响研究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31318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F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——来自山东省的经验证据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3232" y="37261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FE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2013—2025年山东省科创企业面板｜交错DID｜资本认证与资本接力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2924" y="5239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山东理工大学经济学院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568807" y="5257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r>
              <a:rPr lang="en-US" sz="1600" b="1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5535970" y="5239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2026年9月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E1C9E4F-4DF4-4E22-83B3-26F8A2BDA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7479" y="1661561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r>
              <a:rPr lang="zh-CN" altLang="en-US" sz="2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960120" y="320136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677202" y="3118103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研究背景与贡献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64242" y="3154679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为什么研究：科创融资、政府资本与“选择—增量”之辨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960120" y="3895343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77202" y="3895343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理论机制与研究设计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64242" y="3874287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怎么研究：股权穿透、交错DID与资本关系变量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960120" y="4637933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77202" y="461868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实证结果与稳健性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64242" y="465525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发现什么：基准效应、动态变化、稳健性与作用机制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960120" y="5342021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77202" y="5342021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进一步分析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64242" y="5436229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 err="1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如何理解：择优识别、投后增量、创新激活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694B9FE-BF61-4E6F-B800-E59E589EBDB6}"/>
              </a:ext>
            </a:extLst>
          </p:cNvPr>
          <p:cNvSpPr/>
          <p:nvPr/>
        </p:nvSpPr>
        <p:spPr>
          <a:xfrm>
            <a:off x="955307" y="595370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10653758-D5FF-4698-9238-1FC40848A232}"/>
              </a:ext>
            </a:extLst>
          </p:cNvPr>
          <p:cNvSpPr/>
          <p:nvPr/>
        </p:nvSpPr>
        <p:spPr>
          <a:xfrm>
            <a:off x="1677202" y="596525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结论与政策启示</a:t>
            </a:r>
            <a:endParaRPr lang="en-US" sz="16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9192916-5AD6-4CB0-B71B-4BA2753BA556}"/>
              </a:ext>
            </a:extLst>
          </p:cNvPr>
          <p:cNvSpPr/>
          <p:nvPr/>
        </p:nvSpPr>
        <p:spPr>
          <a:xfrm>
            <a:off x="4664242" y="6081483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2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结论、</a:t>
            </a:r>
            <a:r>
              <a:rPr lang="en-US" sz="1120" dirty="0" err="1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政策启示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lean_render/slid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56048" y="1847088"/>
            <a:ext cx="0" cy="2057400"/>
          </a:xfrm>
          <a:prstGeom prst="line">
            <a:avLst/>
          </a:prstGeom>
          <a:noFill/>
          <a:ln w="38100">
            <a:solidFill>
              <a:srgbClr val="02548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30368" y="1792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一 部分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30368" y="2267712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研究背景与贡献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266944" y="3127248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从“政府资本是否有效”推进到“筛选了谁、进入后改变了什么”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lean_render/slid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研究背景与核心问题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098280" y="35661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第一部分｜研究背景与贡献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713232" y="1133856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26187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4.15万亿元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86384" y="1664208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科技型中小企业贷款余额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6384" y="1883664"/>
            <a:ext cx="2002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2026年二季度末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063240" y="1133856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36392" y="12618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20.1%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136392" y="16642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同比增速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136392" y="1883664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高于各项贷款15个百分点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901184" y="1133856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74336" y="126187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30.56万家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974336" y="166420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获贷科技型中小企业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74336" y="1883664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获贷率50.8%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150608" y="1133856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23760" y="126187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5.1万 / 3.5万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23760" y="1664208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山东科技型中小企业 / 高企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223760" y="1883664"/>
            <a:ext cx="2093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628632" y="1133856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01784" y="126187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85%+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701784" y="166420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省重大科技攻关项目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701784" y="1883664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由企业牵头承担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49808" y="2487168"/>
            <a:ext cx="342900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144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371600" y="26426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资本供给仍需“期限匹配”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50976" y="3108960"/>
            <a:ext cx="3026664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融资规模增长并不意味着资本期限、风险承担与科创企业长周期创新已经充分匹配。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4370832" y="2487168"/>
            <a:ext cx="342900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535424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4992624" y="26426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政府引导基金兼具资本与筛选功能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4572000" y="3108960"/>
            <a:ext cx="3026664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既以权益资本分担研发风险、连接外部资源，也会依据创新基础、技术能力和成长前景进行项目筛选。</a:t>
            </a:r>
            <a:endParaRPr lang="en-US" sz="1120" dirty="0"/>
          </a:p>
        </p:txBody>
      </p:sp>
      <p:sp>
        <p:nvSpPr>
          <p:cNvPr id="34" name="Shape 31"/>
          <p:cNvSpPr/>
          <p:nvPr/>
        </p:nvSpPr>
        <p:spPr>
          <a:xfrm>
            <a:off x="7991856" y="2487168"/>
            <a:ext cx="342900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15644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8613648" y="26426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投后创新改善的来源需要辨析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193024" y="3108960"/>
            <a:ext cx="3026664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被投企业表现更好，可能来自事前“选得好”，也可能来自基金进入后的资金、认证与融资接续。</a:t>
            </a:r>
            <a:endParaRPr lang="en-US" sz="1120" dirty="0"/>
          </a:p>
        </p:txBody>
      </p:sp>
      <p:sp>
        <p:nvSpPr>
          <p:cNvPr id="38" name="Shape 35"/>
          <p:cNvSpPr/>
          <p:nvPr/>
        </p:nvSpPr>
        <p:spPr>
          <a:xfrm>
            <a:off x="1024128" y="4315968"/>
            <a:ext cx="10104120" cy="1353312"/>
          </a:xfrm>
          <a:prstGeom prst="roundRect">
            <a:avLst>
              <a:gd name="adj" fmla="val 4730"/>
            </a:avLst>
          </a:prstGeom>
          <a:solidFill>
            <a:srgbClr val="EAF3F7"/>
          </a:solidFill>
          <a:ln w="12700">
            <a:solidFill>
              <a:srgbClr val="BAD3D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325880" y="4553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本文关注三个问题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2971800" y="4462272"/>
            <a:ext cx="772668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基金投资后，企业发明专利申请是否出现稳定正向变化？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基金是“择优识别”还是存在投后增量作用——二者能否区分？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基金进入后是否带来新增资本主体、投资者关系扩展与后续融资接续，并激活部分低创新基础企业？</a:t>
            </a:r>
            <a:endParaRPr lang="en-US" sz="1340" dirty="0"/>
          </a:p>
        </p:txBody>
      </p:sp>
      <p:sp>
        <p:nvSpPr>
          <p:cNvPr id="41" name="Text 38"/>
          <p:cNvSpPr/>
          <p:nvPr/>
        </p:nvSpPr>
        <p:spPr>
          <a:xfrm>
            <a:off x="658368" y="638251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8A96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背景数据与研究问题依据更新稿论文第1—3页。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>
            <a:extLst>
              <a:ext uri="{FF2B5EF4-FFF2-40B4-BE49-F238E27FC236}">
                <a16:creationId xmlns:a16="http://schemas.microsoft.com/office/drawing/2014/main" id="{DDD3FF55-7DAA-4DC0-BFE8-A37709C02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文献脉络与研究空间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既有研究已较充分讨论政府引导基金是否影响创新；本文进一步追问“创新改善如何形成”。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13232" y="1627632"/>
            <a:ext cx="3127248" cy="4169664"/>
          </a:xfrm>
          <a:prstGeom prst="roundRect">
            <a:avLst>
              <a:gd name="adj" fmla="val 2047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96112" y="1847088"/>
            <a:ext cx="530352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18882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6112" y="233172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 vs. 增值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9264" y="29077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已有研究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9264" y="3200400"/>
            <a:ext cx="261518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被投企业投后表现更好，可能同时包含基金事前筛选与投后增值。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9264" y="42976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本文推进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69264" y="4590288"/>
            <a:ext cx="261518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把投资选择、投前特征平衡与投后创新变化放在同一分析框架。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33088" y="1627632"/>
            <a:ext cx="3127248" cy="4169664"/>
          </a:xfrm>
          <a:prstGeom prst="roundRect">
            <a:avLst>
              <a:gd name="adj" fmla="val 2047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15968" y="1847088"/>
            <a:ext cx="530352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61688" y="18882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315968" y="233172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代理变量 vs. 真实资本关系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89120" y="29077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已有研究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389120" y="3200400"/>
            <a:ext cx="261518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既有机制常以融资约束、研发投入等结果性指标刻画渠道。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89120" y="42976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本文推进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389120" y="4590288"/>
            <a:ext cx="261518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直接利用股权投资事件观察新增投资者、投资者关系扩展与融资接续。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552944" y="1627632"/>
            <a:ext cx="3127248" cy="4169664"/>
          </a:xfrm>
          <a:prstGeom prst="roundRect">
            <a:avLst>
              <a:gd name="adj" fmla="val 2047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735824" y="1847088"/>
            <a:ext cx="530352" cy="310896"/>
          </a:xfrm>
          <a:prstGeom prst="roundRect">
            <a:avLst>
              <a:gd name="adj" fmla="val 20588"/>
            </a:avLst>
          </a:prstGeom>
          <a:solidFill>
            <a:srgbClr val="D57A2A"/>
          </a:solidFill>
          <a:ln w="12700">
            <a:solidFill>
              <a:srgbClr val="D57A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81544" y="18882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735824" y="233172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平均效应 vs. 创新广延边际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808976" y="29077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已有研究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808976" y="3200400"/>
            <a:ext cx="261518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平均专利变化难以回答低创新基础企业是否被真正“激活”。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808976" y="42976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本文推进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808976" y="4590288"/>
            <a:ext cx="261518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关注连续两年无发明申请企业投资后能否重新进入创新状态。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58368" y="638251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8A96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研究空间依据更新稿论文第2—3页；理论参照：screening / value added（Croce et al., 2013）。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F0EC7182-E891-4CAC-8D4D-3F06C6106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边际贡献：效应来源、资本关系与创新广延边际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786384" y="1463040"/>
            <a:ext cx="3154680" cy="416052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87552" y="1737360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987552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从结果评价推进到效应来源辨析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89304" y="3246120"/>
            <a:ext cx="2148840" cy="0"/>
          </a:xfrm>
          <a:prstGeom prst="line">
            <a:avLst/>
          </a:prstGeom>
          <a:noFill/>
          <a:ln w="19050">
            <a:solidFill>
              <a:srgbClr val="C7DD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3584448"/>
            <a:ext cx="25603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将基金的事前投资选择与企业投后创新变化置于同一分析框架，更细致地区分被投企业原有创新优势与基金进入后的增量变化。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5112" y="1463040"/>
            <a:ext cx="3154680" cy="416052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26280" y="1737360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2628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用真实资本交易关系识别机制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828032" y="3246120"/>
            <a:ext cx="2148840" cy="0"/>
          </a:xfrm>
          <a:prstGeom prst="line">
            <a:avLst/>
          </a:prstGeom>
          <a:noFill/>
          <a:ln w="19050">
            <a:solidFill>
              <a:srgbClr val="C7DD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3584448"/>
            <a:ext cx="25603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利用企业股权投资事件考察资本主体、投资者关系与融资接续的变化，为理解资本认证与资本接力提供更直接的微观证据。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0" y="1463040"/>
            <a:ext cx="3154680" cy="416052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65008" y="1737360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8065008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把创新考察延伸到广延边际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8366760" y="3246120"/>
            <a:ext cx="2148840" cy="0"/>
          </a:xfrm>
          <a:prstGeom prst="line">
            <a:avLst/>
          </a:prstGeom>
          <a:noFill/>
          <a:ln w="19050">
            <a:solidFill>
              <a:srgbClr val="E6C5A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56448" y="3584448"/>
            <a:ext cx="25603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关注投资前近期缺乏创新产出的企业能否重新进入创新状态，从而识别政府引导基金可能具有的科创企业培育功能。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572768" y="5806440"/>
            <a:ext cx="9052560" cy="420624"/>
          </a:xfrm>
          <a:prstGeom prst="roundRect">
            <a:avLst>
              <a:gd name="adj" fmla="val 15217"/>
            </a:avLst>
          </a:prstGeom>
          <a:solidFill>
            <a:srgbClr val="EAF3F7"/>
          </a:solidFill>
          <a:ln w="12700">
            <a:solidFill>
              <a:srgbClr val="C7DD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0" y="5916168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核心逻辑：基金“选得好”与“投后产生增量”并不互斥；政策效果评价需要同时识别。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lean_render/slid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56048" y="1847088"/>
            <a:ext cx="0" cy="2057400"/>
          </a:xfrm>
          <a:prstGeom prst="line">
            <a:avLst/>
          </a:prstGeom>
          <a:noFill/>
          <a:ln w="38100">
            <a:solidFill>
              <a:srgbClr val="02548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30368" y="1792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二 部分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30368" y="2267712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理论机制与研究设计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266944" y="3127248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把“谁被投、何时被投、基金进入后资本关系如何变化”连接到企业创新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81157109-E949-4D7E-B651-25210D0B9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理论机制与研究假设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960120"/>
            <a:ext cx="8458200" cy="51206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pic>
        <p:nvPicPr>
          <p:cNvPr id="7" name="Image 1" descr="/mnt/data/newdocx_media/word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245870"/>
            <a:ext cx="8092440" cy="40462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55412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虚线：投资选择 / 识别边界；实线：基金投资后的理论作用路径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9281160" y="1234440"/>
            <a:ext cx="22402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44575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902952" y="13898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总体效应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482328" y="1856232"/>
            <a:ext cx="183794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政府引导基金投资能够促进科创企业创新产出。</a:t>
            </a:r>
            <a:endParaRPr lang="en-US" sz="1120" dirty="0"/>
          </a:p>
        </p:txBody>
      </p:sp>
      <p:sp>
        <p:nvSpPr>
          <p:cNvPr id="13" name="Shape 9"/>
          <p:cNvSpPr/>
          <p:nvPr/>
        </p:nvSpPr>
        <p:spPr>
          <a:xfrm>
            <a:off x="9281160" y="2651760"/>
            <a:ext cx="22402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44575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9902952" y="28072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资本认证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482328" y="3273552"/>
            <a:ext cx="183794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基金筛选与真实出资形成认证信号，促进新增资本主体进入与投资者关系扩展。</a:t>
            </a:r>
            <a:endParaRPr lang="en-US" sz="1120" dirty="0"/>
          </a:p>
        </p:txBody>
      </p:sp>
      <p:sp>
        <p:nvSpPr>
          <p:cNvPr id="17" name="Shape 13"/>
          <p:cNvSpPr/>
          <p:nvPr/>
        </p:nvSpPr>
        <p:spPr>
          <a:xfrm>
            <a:off x="9281160" y="4251960"/>
            <a:ext cx="22402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445752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9902952" y="4407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资本接力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9482328" y="4873752"/>
            <a:ext cx="183794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后续融资接续增强，为研发—中试—商业化提供持续资本支持。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658368" y="638251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8A96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理论框架：更新稿论文图1。投资选择属于识别边界，资本认证与资本接力是本文重点考察的投后资本关系渠道。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>
            <a:extLst>
              <a:ext uri="{FF2B5EF4-FFF2-40B4-BE49-F238E27FC236}">
                <a16:creationId xmlns:a16="http://schemas.microsoft.com/office/drawing/2014/main" id="{CEB98868-C2EC-403F-8774-6DD2111B9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数据、样本与处理识别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85800" y="1371600"/>
            <a:ext cx="2240280" cy="228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FDFE7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" y="1572768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6139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0392" y="204825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科创企业识别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0392" y="2532888"/>
            <a:ext cx="190195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高企、小巨人、专精特新中小、科技型中小、创新型中小等官方认定体系</a:t>
            </a:r>
            <a:endParaRPr lang="en-US" sz="1040" dirty="0"/>
          </a:p>
        </p:txBody>
      </p:sp>
      <p:sp>
        <p:nvSpPr>
          <p:cNvPr id="11" name="Shape 8"/>
          <p:cNvSpPr/>
          <p:nvPr/>
        </p:nvSpPr>
        <p:spPr>
          <a:xfrm>
            <a:off x="2944368" y="2542032"/>
            <a:ext cx="283464" cy="0"/>
          </a:xfrm>
          <a:prstGeom prst="line">
            <a:avLst/>
          </a:prstGeom>
          <a:noFill/>
          <a:ln w="20320">
            <a:solidFill>
              <a:srgbClr val="83AFC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337560" y="1371600"/>
            <a:ext cx="2240280" cy="228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FDFE7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02152" y="1572768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7872" y="16139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02152" y="204825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基金投资识别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502152" y="2532888"/>
            <a:ext cx="190195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清科私募通 + 投中CVSource；直接投资与股权穿透后的间接投资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5596128" y="2542032"/>
            <a:ext cx="283464" cy="0"/>
          </a:xfrm>
          <a:prstGeom prst="line">
            <a:avLst/>
          </a:prstGeom>
          <a:noFill/>
          <a:ln w="20320">
            <a:solidFill>
              <a:srgbClr val="83AFC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989320" y="1371600"/>
            <a:ext cx="2240280" cy="228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FDFE7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53912" y="1572768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9632" y="16139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53912" y="204825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处理时点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153912" y="2532888"/>
            <a:ext cx="190195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以企业首次实际获得山东省政府引导基金投资年份定义 FirstTreatYear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8247888" y="2542032"/>
            <a:ext cx="283464" cy="0"/>
          </a:xfrm>
          <a:prstGeom prst="line">
            <a:avLst/>
          </a:prstGeom>
          <a:noFill/>
          <a:ln w="20320">
            <a:solidFill>
              <a:srgbClr val="83AFC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641080" y="1371600"/>
            <a:ext cx="2240280" cy="228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FDFE7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805672" y="1572768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51392" y="16139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805672" y="204825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企业—年度面板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8805672" y="2532888"/>
            <a:ext cx="190195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匹配专利、财务、城市指标与后续股权投资事件；观察期2013—2025</a:t>
            </a:r>
            <a:endParaRPr lang="en-US" sz="1040" dirty="0"/>
          </a:p>
        </p:txBody>
      </p:sp>
      <p:sp>
        <p:nvSpPr>
          <p:cNvPr id="29" name="Shape 26"/>
          <p:cNvSpPr/>
          <p:nvPr/>
        </p:nvSpPr>
        <p:spPr>
          <a:xfrm>
            <a:off x="1143000" y="43434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16152" y="447141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368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216152" y="487375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处理企业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216152" y="5093208"/>
            <a:ext cx="1819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首次投资年份2013—2025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822192" y="43434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95344" y="447141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11,409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3895344" y="487375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控制企业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895344" y="5093208"/>
            <a:ext cx="1819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样本期内从未受投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6501384" y="43434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74536" y="447141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11,777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6574536" y="487375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基础样本企业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574536" y="5093208"/>
            <a:ext cx="1819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处理组 + 控制组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9180576" y="43434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53728" y="447141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16地市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9253728" y="487375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区域层面控制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253728" y="5093208"/>
            <a:ext cx="1819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历年《山东统计年鉴》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1005840" y="5650992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控制组以山东省专精特新企业名录为基础；进一步剔除处理组、同一法律实体及经股权穿透确认存在政府投资基金关系的企业。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58368" y="638251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8A96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样本与数据来源：更新稿论文第6—7页。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>
            <a:extLst>
              <a:ext uri="{FF2B5EF4-FFF2-40B4-BE49-F238E27FC236}">
                <a16:creationId xmlns:a16="http://schemas.microsoft.com/office/drawing/2014/main" id="{BDE94F88-89FF-425F-B12F-B007814EB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变量构造与交错DID识别策略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098280" y="35661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第二部分｜理论机制与研究设计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1143000"/>
            <a:ext cx="3246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1307592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3487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80744" y="13167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被解释变量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18013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= ln(1+发明专利申请数)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777240" y="23134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发明专利申请更及时反映创新活动变化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160520" y="1143000"/>
            <a:ext cx="3246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25112" y="1307592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70832" y="13487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46904" y="13167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处理变量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343400" y="18013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GGF：FirstTreatYear及以后=1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4343400" y="23134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首次实际获得基金投资的年份为处理时点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7726680" y="1143000"/>
            <a:ext cx="3246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891272" y="1307592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36992" y="13487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513064" y="13167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协变量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909560" y="18013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lnAsset、ROA、FirmAge、FirmAge²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7909560" y="23134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控制规模、盈利能力与生命周期特征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594360" y="3520440"/>
            <a:ext cx="3246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58952" y="3685032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D57A2A"/>
          </a:solidFill>
          <a:ln w="12700">
            <a:solidFill>
              <a:srgbClr val="D57A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" y="37261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380744" y="36941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资本认证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77240" y="417880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NewInvestor、ln_investor</a:t>
            </a:r>
            <a:endParaRPr lang="en-US" sz="1090" dirty="0"/>
          </a:p>
        </p:txBody>
      </p:sp>
      <p:sp>
        <p:nvSpPr>
          <p:cNvPr id="29" name="Text 26"/>
          <p:cNvSpPr/>
          <p:nvPr/>
        </p:nvSpPr>
        <p:spPr>
          <a:xfrm>
            <a:off x="777240" y="46908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新增投资者与投资者关系扩展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4160520" y="3520440"/>
            <a:ext cx="3246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25112" y="3685032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D57A2A"/>
          </a:solidFill>
          <a:ln w="12700">
            <a:solidFill>
              <a:srgbClr val="D57A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70832" y="37261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946904" y="36941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资本接力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4343400" y="417880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FollowOnRound、AnyFollowOnRound</a:t>
            </a:r>
            <a:endParaRPr lang="en-US" sz="1090" dirty="0"/>
          </a:p>
        </p:txBody>
      </p:sp>
      <p:sp>
        <p:nvSpPr>
          <p:cNvPr id="35" name="Text 32"/>
          <p:cNvSpPr/>
          <p:nvPr/>
        </p:nvSpPr>
        <p:spPr>
          <a:xfrm>
            <a:off x="4343400" y="46908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后续融资强度与后续融资发生</a:t>
            </a:r>
            <a:endParaRPr lang="en-US" sz="980" dirty="0"/>
          </a:p>
        </p:txBody>
      </p:sp>
      <p:sp>
        <p:nvSpPr>
          <p:cNvPr id="36" name="Shape 33"/>
          <p:cNvSpPr/>
          <p:nvPr/>
        </p:nvSpPr>
        <p:spPr>
          <a:xfrm>
            <a:off x="7726680" y="3520440"/>
            <a:ext cx="3246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5E4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891272" y="3685032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D57A2A"/>
          </a:solidFill>
          <a:ln w="12700">
            <a:solidFill>
              <a:srgbClr val="D57A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36992" y="37261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513064" y="36941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进一步分析</a:t>
            </a:r>
            <a:endParaRPr lang="en-US" sz="1450" dirty="0"/>
          </a:p>
        </p:txBody>
      </p:sp>
      <p:sp>
        <p:nvSpPr>
          <p:cNvPr id="40" name="Text 37"/>
          <p:cNvSpPr/>
          <p:nvPr/>
        </p:nvSpPr>
        <p:spPr>
          <a:xfrm>
            <a:off x="7909560" y="417880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Pre_inv_mean3、Pre_inv_trend3、LowBase</a:t>
            </a:r>
            <a:endParaRPr lang="en-US" sz="1090" dirty="0"/>
          </a:p>
        </p:txBody>
      </p:sp>
      <p:sp>
        <p:nvSpPr>
          <p:cNvPr id="41" name="Text 38"/>
          <p:cNvSpPr/>
          <p:nvPr/>
        </p:nvSpPr>
        <p:spPr>
          <a:xfrm>
            <a:off x="7909560" y="46908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刻画投资选择、投前平衡与低创新基础</a:t>
            </a:r>
            <a:endParaRPr lang="en-US" sz="980" dirty="0"/>
          </a:p>
        </p:txBody>
      </p:sp>
      <p:sp>
        <p:nvSpPr>
          <p:cNvPr id="42" name="Shape 39"/>
          <p:cNvSpPr/>
          <p:nvPr/>
        </p:nvSpPr>
        <p:spPr>
          <a:xfrm>
            <a:off x="1143000" y="5742432"/>
            <a:ext cx="9921240" cy="475488"/>
          </a:xfrm>
          <a:prstGeom prst="roundRect">
            <a:avLst>
              <a:gd name="adj" fmla="val 13462"/>
            </a:avLst>
          </a:prstGeom>
          <a:solidFill>
            <a:srgbClr val="EAF3F7"/>
          </a:solidFill>
          <a:ln w="12700">
            <a:solidFill>
              <a:srgbClr val="C7DDE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417320" y="5879592"/>
            <a:ext cx="9372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主估计：Callaway &amp; Sant’Anna (2021) 交错DID + 双重稳健估计（C&amp;S-DR）；Never-treated为基准控制组，Not-yet-treated用于稳健性。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lean_render/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56048" y="1847088"/>
            <a:ext cx="0" cy="2057400"/>
          </a:xfrm>
          <a:prstGeom prst="line">
            <a:avLst/>
          </a:prstGeom>
          <a:noFill/>
          <a:ln w="38100">
            <a:solidFill>
              <a:srgbClr val="02548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30368" y="1792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三 部分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30368" y="2267712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实证结果与稳健性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266944" y="3127248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从基准效应、动态变化到多维稳健性，再考察资本认证与资本接力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BA4D4CDD-5212-4663-B817-0C9A5CEBB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基准结果与动态效应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098280" y="35661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第三部分｜实证结果与稳健性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76656" y="102412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基准主规格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60934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0.2711**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58952" y="201168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总体平均处理效应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58952" y="2231136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C&amp;S-DR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85800" y="260604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" y="273405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≈31.1%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58952" y="313639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经济量级参照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8952" y="3355848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exp(0.2711)-1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85800" y="3730752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" y="38587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p=0.0554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58952" y="426110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近期处理前联合检验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8952" y="44805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T−3 与 T−2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58368" y="4965192"/>
            <a:ext cx="2148840" cy="10241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解释：因变量为 ln(1+发明申请数)，0.2711首先是对数点变化；31.1%仅是“1+发明申请数”尺度上的量级参照，不能直接写成专利数精确提高31.1%。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2971800" y="960120"/>
            <a:ext cx="8458200" cy="5074920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pic>
        <p:nvPicPr>
          <p:cNvPr id="21" name="Image 1" descr="/mnt/data/newdocx_media/word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542" y="1152144"/>
            <a:ext cx="6233571" cy="453542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64992" y="559612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动态特征：T0=0.1941 → T+1=0.4632 → T+2=0.3116；基金进入后的创新变化具有一定滞后性和持续性。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8368" y="638251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8A96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更新稿表3—4。事件研究用于刻画动态变化与近期处理前特征，论文不单独据此作过强因果判断。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>
            <a:extLst>
              <a:ext uri="{FF2B5EF4-FFF2-40B4-BE49-F238E27FC236}">
                <a16:creationId xmlns:a16="http://schemas.microsoft.com/office/drawing/2014/main" id="{B23DC84B-034E-404D-BA95-209E9A6BC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稳健性检验与随机置换安慰剂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1051560"/>
            <a:ext cx="608076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298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不同样本与估计设定下的处理效应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88920" y="1847088"/>
            <a:ext cx="0" cy="3456432"/>
          </a:xfrm>
          <a:prstGeom prst="line">
            <a:avLst/>
          </a:prstGeom>
          <a:noFill/>
          <a:ln w="12700">
            <a:solidFill>
              <a:srgbClr val="E3EA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33472" y="537667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616234" y="1847088"/>
            <a:ext cx="0" cy="3456432"/>
          </a:xfrm>
          <a:prstGeom prst="line">
            <a:avLst/>
          </a:prstGeom>
          <a:noFill/>
          <a:ln w="12700">
            <a:solidFill>
              <a:srgbClr val="E3EA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60786" y="537667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443549" y="1847088"/>
            <a:ext cx="0" cy="3456432"/>
          </a:xfrm>
          <a:prstGeom prst="line">
            <a:avLst/>
          </a:prstGeom>
          <a:noFill/>
          <a:ln w="12700">
            <a:solidFill>
              <a:srgbClr val="E3EA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8101" y="537667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270863" y="1847088"/>
            <a:ext cx="0" cy="3456432"/>
          </a:xfrm>
          <a:prstGeom prst="line">
            <a:avLst/>
          </a:prstGeom>
          <a:noFill/>
          <a:ln w="12700">
            <a:solidFill>
              <a:srgbClr val="E3EA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15415" y="537667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098177" y="1847088"/>
            <a:ext cx="0" cy="3456432"/>
          </a:xfrm>
          <a:prstGeom prst="line">
            <a:avLst/>
          </a:prstGeom>
          <a:noFill/>
          <a:ln w="12700">
            <a:solidFill>
              <a:srgbClr val="E3EA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2729" y="537667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031769" y="1792224"/>
            <a:ext cx="0" cy="3547872"/>
          </a:xfrm>
          <a:prstGeom prst="line">
            <a:avLst/>
          </a:prstGeom>
          <a:noFill/>
          <a:ln w="17780">
            <a:solidFill>
              <a:srgbClr val="D57A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8849" y="15910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基准0.2711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68680" y="193852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PSM-交错DID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513130" y="1961388"/>
            <a:ext cx="137160" cy="137160"/>
          </a:xfrm>
          <a:prstGeom prst="ellipse">
            <a:avLst/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4006" y="19293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0.2167**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868680" y="2468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核心处理队列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5087286" y="2491740"/>
            <a:ext cx="137160" cy="137160"/>
          </a:xfrm>
          <a:prstGeom prst="ellipse">
            <a:avLst/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38162" y="24597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0.2861**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868680" y="29992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Not-yet-treated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948297" y="3022092"/>
            <a:ext cx="137160" cy="137160"/>
          </a:xfrm>
          <a:prstGeom prst="ellipse">
            <a:avLst/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99173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0.2693**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868680" y="352958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1%/99%缩尾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4724095" y="3552444"/>
            <a:ext cx="137160" cy="137160"/>
          </a:xfrm>
          <a:prstGeom prst="ellipse">
            <a:avLst/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74971" y="35204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0.2422**</a:t>
            </a:r>
            <a:endParaRPr lang="en-US" sz="920" dirty="0"/>
          </a:p>
        </p:txBody>
      </p:sp>
      <p:sp>
        <p:nvSpPr>
          <p:cNvPr id="32" name="Text 29"/>
          <p:cNvSpPr/>
          <p:nvPr/>
        </p:nvSpPr>
        <p:spPr>
          <a:xfrm>
            <a:off x="868680" y="40599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DCDH替代估计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5797949" y="4082796"/>
            <a:ext cx="137160" cy="137160"/>
          </a:xfrm>
          <a:prstGeom prst="ellipse">
            <a:avLst/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8825" y="4050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0.3720***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868680" y="45902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城市协变量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5033511" y="4613148"/>
            <a:ext cx="137160" cy="137160"/>
          </a:xfrm>
          <a:prstGeom prst="ellipse">
            <a:avLst/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84387" y="45811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0.2796***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987552" y="5687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PSM匹配后处理组/控制组各126家，平均标准化偏差由22.2%降至7.0%。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903720" y="1051560"/>
            <a:ext cx="4709160" cy="51663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05472" y="1298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随机置换安慰剂</a:t>
            </a:r>
            <a:endParaRPr lang="en-US" sz="1500" dirty="0"/>
          </a:p>
        </p:txBody>
      </p:sp>
      <p:pic>
        <p:nvPicPr>
          <p:cNvPr id="41" name="Image 1" descr="/mnt/data/newdocx_media/word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819705"/>
            <a:ext cx="4187952" cy="3044854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7242048" y="4992624"/>
            <a:ext cx="123444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315200" y="512064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−0.0029</a:t>
            </a:r>
            <a:endParaRPr lang="en-US" sz="2000" dirty="0"/>
          </a:p>
        </p:txBody>
      </p:sp>
      <p:sp>
        <p:nvSpPr>
          <p:cNvPr id="44" name="Text 40"/>
          <p:cNvSpPr/>
          <p:nvPr/>
        </p:nvSpPr>
        <p:spPr>
          <a:xfrm>
            <a:off x="7315200" y="5522976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500次伪效应均值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7315200" y="574243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随机置换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8705088" y="4992624"/>
            <a:ext cx="123444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778240" y="512064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0.4720</a:t>
            </a:r>
            <a:endParaRPr lang="en-US" sz="2000" dirty="0"/>
          </a:p>
        </p:txBody>
      </p:sp>
      <p:sp>
        <p:nvSpPr>
          <p:cNvPr id="48" name="Text 44"/>
          <p:cNvSpPr/>
          <p:nvPr/>
        </p:nvSpPr>
        <p:spPr>
          <a:xfrm>
            <a:off x="8778240" y="5522976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真实BJS T0—T+2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8778240" y="574243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同口径比较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10168128" y="4992624"/>
            <a:ext cx="123444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0241280" y="512064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0.002</a:t>
            </a:r>
            <a:endParaRPr lang="en-US" sz="2000" dirty="0"/>
          </a:p>
        </p:txBody>
      </p:sp>
      <p:sp>
        <p:nvSpPr>
          <p:cNvPr id="52" name="Text 48"/>
          <p:cNvSpPr/>
          <p:nvPr/>
        </p:nvSpPr>
        <p:spPr>
          <a:xfrm>
            <a:off x="10241280" y="5522976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双侧置换 p值</a:t>
            </a:r>
            <a:endParaRPr lang="en-US" sz="950" dirty="0"/>
          </a:p>
        </p:txBody>
      </p:sp>
      <p:sp>
        <p:nvSpPr>
          <p:cNvPr id="53" name="Text 49"/>
          <p:cNvSpPr/>
          <p:nvPr/>
        </p:nvSpPr>
        <p:spPr>
          <a:xfrm>
            <a:off x="10241280" y="574243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500次</a:t>
            </a:r>
            <a:endParaRPr lang="en-US" sz="750" dirty="0"/>
          </a:p>
        </p:txBody>
      </p:sp>
      <p:sp>
        <p:nvSpPr>
          <p:cNvPr id="54" name="Text 50"/>
          <p:cNvSpPr/>
          <p:nvPr/>
        </p:nvSpPr>
        <p:spPr>
          <a:xfrm>
            <a:off x="7205472" y="587044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0.4720是BJS框架下的真实统计量，仅用于与置换分布同口径比较，不与C&amp;S基准ATT=0.2711作点估计大小比较。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1D8E83FC-26AC-4FB2-9CCC-FEB9BBDD3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作用机制：资本认证与资本接力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098280" y="35661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第三部分｜实证结果与稳健性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9808" y="10607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基金进入后的 T+1—T+2 平均变化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508760"/>
            <a:ext cx="2331720" cy="1901952"/>
          </a:xfrm>
          <a:prstGeom prst="roundRect">
            <a:avLst>
              <a:gd name="adj" fmla="val 3365"/>
            </a:avLst>
          </a:prstGeom>
          <a:solidFill>
            <a:srgbClr val="F2F8FB"/>
          </a:solidFill>
          <a:ln w="12700">
            <a:solidFill>
              <a:srgbClr val="C7DDE7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96112" y="1709928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17510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资本认证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6112" y="21762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新增投资者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25877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+0.0924***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68680" y="3081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NewInvestor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29584" y="1508760"/>
            <a:ext cx="2331720" cy="1901952"/>
          </a:xfrm>
          <a:prstGeom prst="roundRect">
            <a:avLst>
              <a:gd name="adj" fmla="val 3365"/>
            </a:avLst>
          </a:prstGeom>
          <a:solidFill>
            <a:srgbClr val="F2F8FB"/>
          </a:solidFill>
          <a:ln w="12700">
            <a:solidFill>
              <a:srgbClr val="C7DDE7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94176" y="1709928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39896" y="17510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资本认证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94176" y="21762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投资者关系扩展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66744" y="25877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+0.1039***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3666744" y="3081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ln_investor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27648" y="1508760"/>
            <a:ext cx="2331720" cy="1901952"/>
          </a:xfrm>
          <a:prstGeom prst="roundRect">
            <a:avLst>
              <a:gd name="adj" fmla="val 3365"/>
            </a:avLst>
          </a:prstGeom>
          <a:solidFill>
            <a:srgbClr val="F8F6F0"/>
          </a:solidFill>
          <a:ln w="12700">
            <a:solidFill>
              <a:srgbClr val="E3D5B7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92240" y="1709928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D57A2A"/>
          </a:solidFill>
          <a:ln w="12700">
            <a:solidFill>
              <a:srgbClr val="D57A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17510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资本接力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92240" y="21762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后续融资强度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64808" y="25877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+0.0319*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6464808" y="3081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FollowOnRound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9125712" y="1508760"/>
            <a:ext cx="2331720" cy="1901952"/>
          </a:xfrm>
          <a:prstGeom prst="roundRect">
            <a:avLst>
              <a:gd name="adj" fmla="val 3365"/>
            </a:avLst>
          </a:prstGeom>
          <a:solidFill>
            <a:srgbClr val="F8F6F0"/>
          </a:solidFill>
          <a:ln w="12700">
            <a:solidFill>
              <a:srgbClr val="E3D5B7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290304" y="1709928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D57A2A"/>
          </a:solidFill>
          <a:ln w="12700">
            <a:solidFill>
              <a:srgbClr val="D57A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36024" y="17510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资本接力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290304" y="21762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发生后续融资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262872" y="25877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+4.04 p.p.*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9262872" y="3081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AnyFollowOnRound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31520" y="3822192"/>
            <a:ext cx="107259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24128" y="40965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资本关系变化与下一期创新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3127248" y="4023360"/>
            <a:ext cx="7845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滞后一期 NewInvestor / ln_investor / FollowOnRound / AnyFollowOnRound 的系数分别为 0.0461*、0.0504*、0.1414**、0.0878*，均与企业后续创新呈正向关系。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1005840" y="469087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政府资本进入 → 认证信号与投资网络 → 新资本主体进入 / 投资者关系扩展 → 后续融资接续 → 支持创新持续推进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2240280" y="5486400"/>
            <a:ext cx="7680960" cy="493776"/>
          </a:xfrm>
          <a:prstGeom prst="roundRect">
            <a:avLst>
              <a:gd name="adj" fmla="val 12963"/>
            </a:avLst>
          </a:prstGeom>
          <a:solidFill>
            <a:srgbClr val="EAF3F7"/>
          </a:solidFill>
          <a:ln w="12700">
            <a:solidFill>
              <a:srgbClr val="C7DD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468880" y="561441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解释边界：机制分析提供与理论渠道一致的支持性证据，不等同于严格因果中介效应。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lean_render/slide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56048" y="1847088"/>
            <a:ext cx="0" cy="2057400"/>
          </a:xfrm>
          <a:prstGeom prst="line">
            <a:avLst/>
          </a:prstGeom>
          <a:noFill/>
          <a:ln w="38100">
            <a:solidFill>
              <a:srgbClr val="02548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30368" y="1792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四 部分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30368" y="2267712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进一步分析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266944" y="3127248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区分事前选择与投后增量，并考察不同创新基础企业的“放大—激活”响应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:a16="http://schemas.microsoft.com/office/drawing/2014/main" id="{982FF15B-E11A-4807-A546-58621F5C4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择优识别 vs. 投后增量作用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749808" y="1143000"/>
            <a:ext cx="516636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6E5EB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1371600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4127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首次投资选择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2688" y="185623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基金更偏好“已有创新基础”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88720" y="2404872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253288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0.4538***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61872" y="293522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投资前三年平均创新水平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261872" y="3154680"/>
            <a:ext cx="1819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加入企业特征后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511296" y="2404872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84448" y="253288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0.3356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584448" y="293522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投资前创新趋势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584448" y="3154680"/>
            <a:ext cx="1819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统计上不再显著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097280" y="3712464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基金更倾向于选择已有创新基础较好的企业，但对短期创新增速不存在稳定偏好。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43000" y="48006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事前“择优识别”确实存在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36208" y="1143000"/>
            <a:ext cx="516636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6D7B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46520" y="1371600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D57A2A"/>
          </a:solidFill>
          <a:ln w="12700">
            <a:solidFill>
              <a:srgbClr val="D57A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14127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IPW投前平衡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19088" y="185623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平衡可观察选择后，投后增长仍在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675120" y="2404872"/>
            <a:ext cx="205740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48272" y="2532888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0.1630 → −0.0016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748272" y="293522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T−2至T−1创新变化差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748272" y="3154680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加权前 → 加权后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997696" y="2404872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70848" y="253288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0.4980**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9070848" y="293522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T0—T+2平均创新效应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070848" y="3154680"/>
            <a:ext cx="1819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9A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IPW调整后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583680" y="3712464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降低投资前可观察差异后，投后创新增长仍然存在，难以完全由事前择优投资解释。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629400" y="48006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存在“投后增量作用”证据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874520" y="5806440"/>
            <a:ext cx="8503920" cy="384048"/>
          </a:xfrm>
          <a:prstGeom prst="roundRect">
            <a:avLst>
              <a:gd name="adj" fmla="val 16667"/>
            </a:avLst>
          </a:prstGeom>
          <a:solidFill>
            <a:srgbClr val="FFF5ED"/>
          </a:solidFill>
          <a:ln w="12700">
            <a:solidFill>
              <a:srgbClr val="EDC6A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148840" y="590702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结论：择优识别与投后增量并存；IPW只能平衡可观察差异，仍无法排除未观察因素的影响。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0B192B6E-CF80-4703-8D4E-362955252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不同创新基础企业的响应：“放大”与“激活”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86384" y="10241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按首次投资前 T−2、T−1 的发明专利申请情况，将处理企业分为“已有创新基础”与“低创新基础”。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41248" y="1572768"/>
            <a:ext cx="3063240" cy="3127248"/>
          </a:xfrm>
          <a:prstGeom prst="roundRect">
            <a:avLst>
              <a:gd name="adj" fmla="val 2090"/>
            </a:avLst>
          </a:prstGeom>
          <a:solidFill>
            <a:srgbClr val="F1F7FA"/>
          </a:solidFill>
          <a:ln w="12700">
            <a:solidFill>
              <a:srgbClr val="C8DEE8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1901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已有创新基础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0.4760**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188720" y="3090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T0—T+2平均创新效应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15568" y="3840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主要表现为既有创新能力进一步“放大”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87952" y="1572768"/>
            <a:ext cx="3063240" cy="3127248"/>
          </a:xfrm>
          <a:prstGeom prst="roundRect">
            <a:avLst>
              <a:gd name="adj" fmla="val 2090"/>
            </a:avLst>
          </a:prstGeom>
          <a:solidFill>
            <a:srgbClr val="FFF7EF"/>
          </a:solidFill>
          <a:ln w="12700">
            <a:solidFill>
              <a:srgbClr val="E8D2B4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43984" y="1901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低创新基础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407408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0.5487**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535424" y="3090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T0—T+2平均创新效应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07408" y="37124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与已有基础组差异0.0727；95% Bootstrap区间包含0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552944" y="1572768"/>
            <a:ext cx="3730752" cy="3127248"/>
          </a:xfrm>
          <a:prstGeom prst="roundRect">
            <a:avLst>
              <a:gd name="adj" fmla="val 2047"/>
            </a:avLst>
          </a:prstGeom>
          <a:solidFill>
            <a:srgbClr val="EEF8F5"/>
          </a:solidFill>
          <a:ln w="12700">
            <a:solidFill>
              <a:srgbClr val="C5E1D7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18120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创新激活（广延边际）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754112" y="24505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+21.5 p.p.**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882128" y="31089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低创新基础企业投资后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重新出现发明专利申请的概率变化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818120" y="3977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培育更突出体现为创新“从0到1”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234440" y="5138928"/>
            <a:ext cx="9692640" cy="822960"/>
          </a:xfrm>
          <a:prstGeom prst="roundRect">
            <a:avLst>
              <a:gd name="adj" fmla="val 7778"/>
            </a:avLst>
          </a:prstGeom>
          <a:solidFill>
            <a:srgbClr val="EAF3F7"/>
          </a:solidFill>
          <a:ln w="12700">
            <a:solidFill>
              <a:srgbClr val="C7DD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08760" y="5340096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关键辨析：两组平均处理效应不存在显著差异，因此本文所称“培育”是低创新基础企业创新活动从0到1的广延边际改善，而不是其平均ATT更大。</a:t>
            </a:r>
            <a:endParaRPr lang="en-US" sz="11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lean_render/slide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56048" y="1847088"/>
            <a:ext cx="0" cy="2057400"/>
          </a:xfrm>
          <a:prstGeom prst="line">
            <a:avLst/>
          </a:prstGeom>
          <a:noFill/>
          <a:ln w="38100">
            <a:solidFill>
              <a:srgbClr val="02548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30368" y="1792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</a:t>
            </a:r>
            <a:r>
              <a:rPr lang="zh-CN" altLang="en-US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r>
              <a:rPr lang="en-US" sz="18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部分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30368" y="2267712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r>
              <a:rPr lang="zh-CN" altLang="en-US" sz="30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与政策启示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266944" y="3127248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87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区分事前选择与投后增量，并考察不同创新基础企业的“放大—激活”响应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31959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>
            <a:extLst>
              <a:ext uri="{FF2B5EF4-FFF2-40B4-BE49-F238E27FC236}">
                <a16:creationId xmlns:a16="http://schemas.microsoft.com/office/drawing/2014/main" id="{6A1DF183-9451-44B1-8C51-8428B81E2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主要研究结论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098280" y="35661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第四部分｜进一步分析与研究结论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713232" y="1298448"/>
            <a:ext cx="3401568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7824" y="1463040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3544" y="15041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99616" y="14721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创新产出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96112" y="1984248"/>
            <a:ext cx="301752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基金投资后企业发明专利申请显著增加；主规格总体ATT=0.2711，动态变化在T+1最突出，并延续至T+2。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379976" y="1298448"/>
            <a:ext cx="3401568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1463040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15041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66360" y="14721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结果稳健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62856" y="1984248"/>
            <a:ext cx="301752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替换控制组、限定处理队列、缩尾、PSM-交错DID、DCDH、城市协变量及随机置换下，正向结果总体保持稳定。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046720" y="1298448"/>
            <a:ext cx="3401568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11312" y="1463040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57032" y="15041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833104" y="14721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选择与增量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229600" y="1984248"/>
            <a:ext cx="301752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基金明显偏好已有创新基础企业；平衡可观察投前差异后，投后创新正向变化仍然存在。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2542032" y="3776472"/>
            <a:ext cx="3401568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06624" y="3941064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025483"/>
          </a:solidFill>
          <a:ln w="12700">
            <a:solidFill>
              <a:srgbClr val="02548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52344" y="39822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328416" y="3950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资本渠道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2724912" y="4462272"/>
            <a:ext cx="301752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基金进入后新增资本主体、投资者关系与后续融资均增加，且滞后资本参与和融资接续与后续创新正相关。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208776" y="3776472"/>
            <a:ext cx="3401568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2700">
            <a:solidFill>
              <a:srgbClr val="C9E1D7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373368" y="3941064"/>
            <a:ext cx="502920" cy="310896"/>
          </a:xfrm>
          <a:prstGeom prst="roundRect">
            <a:avLst>
              <a:gd name="adj" fmla="val 20588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19088" y="39822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995160" y="3950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创新培育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391656" y="4462272"/>
            <a:ext cx="301752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对近期连续两年无发明申请企业，投资后重新出现发明申请的概率平均提高约21.5个百分点。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1508760" y="5989320"/>
            <a:ext cx="9144000" cy="347472"/>
          </a:xfrm>
          <a:prstGeom prst="roundRect">
            <a:avLst>
              <a:gd name="adj" fmla="val 18421"/>
            </a:avLst>
          </a:prstGeom>
          <a:solidFill>
            <a:srgbClr val="EAF3F7"/>
          </a:solidFill>
          <a:ln w="12700">
            <a:solidFill>
              <a:srgbClr val="C7DD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783080" y="607161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总体判断：政府引导基金呈现“择优识别与投后增量作用并存”，并兼具资本认证、资本接力和一定的创新激活特征。</a:t>
            </a:r>
            <a:endParaRPr lang="en-US" sz="10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1CDC3A7A-1D6E-45EA-A202-697F7459F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政策启示：让基金更“耐心”、更重投后、更能识别潜力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098280" y="35661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第四部分｜进一步分析与研究结论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777240" y="1325880"/>
            <a:ext cx="504748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41832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57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99032" y="148132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匹配科创企业创新周期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78408" y="1947672"/>
            <a:ext cx="4645152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适当延长基金存续期和绩效评价周期，减少对短期投资回报和快速退出的依赖，更关注持续研发、技术突破和长期成长，形成更具耐心的资本供给机制。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6181344" y="1325880"/>
            <a:ext cx="504748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45936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803136" y="148132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强化资本认证与资本接力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82512" y="1947672"/>
            <a:ext cx="4645152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强化基金管理人与市场化投资机构、产业资本协同，建立覆盖研发—中试—产业化不同阶段的持续融资机制；绩效评价不机械追求“撬动倍数”。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777240" y="3703320"/>
            <a:ext cx="504748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4183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99032" y="38587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择优识别与潜力培育并重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78408" y="4325112"/>
            <a:ext cx="4645152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对已有创新基础企业发挥资本和产业资源放大作用；对短期创新产出少但有技术储备、研发团队或阶段性成果企业，通过分阶段投资、延长期限和技术里程碑支持培育。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181344" y="3703320"/>
            <a:ext cx="504748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blurRad="15240" dist="50800" dir="2700000" algn="bl" rotWithShape="0">
              <a:srgbClr val="A7B5BC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45936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5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03136" y="38587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4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完善穿透识别与投后跟踪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382512" y="4325112"/>
            <a:ext cx="4645152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构建“基金—投资主体—被投企业—投资事件—创新结果”动态数据库，准确记录首次投资时点、后续融资与投前创新轨迹，提高政策绩效归因能力。</a:t>
            </a:r>
            <a:endParaRPr lang="en-US" sz="11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f21ae930fcceff4e2db2d9b038b6ebd"/>
          <p:cNvPicPr>
            <a:picLocks noChangeAspect="1"/>
          </p:cNvPicPr>
          <p:nvPr/>
        </p:nvPicPr>
        <p:blipFill>
          <a:blip r:embed="rId2"/>
          <a:srcRect t="42531" b="-11409"/>
          <a:stretch>
            <a:fillRect/>
          </a:stretch>
        </p:blipFill>
        <p:spPr>
          <a:xfrm>
            <a:off x="0" y="0"/>
            <a:ext cx="12192635" cy="416496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2874645"/>
            <a:ext cx="12192000" cy="2803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2" rIns="85683" bIns="42842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125" b="1" dirty="0"/>
              <a:t>THANK YOU </a:t>
            </a:r>
          </a:p>
          <a:p>
            <a:pPr algn="ctr">
              <a:lnSpc>
                <a:spcPct val="150000"/>
              </a:lnSpc>
            </a:pPr>
            <a:r>
              <a:rPr lang="zh-CN" altLang="en-US" sz="4125" b="1" dirty="0"/>
              <a:t>谢谢观看！</a:t>
            </a:r>
            <a:endParaRPr lang="en-US" altLang="zh-CN" sz="4125" b="1" dirty="0"/>
          </a:p>
        </p:txBody>
      </p:sp>
      <p:grpSp>
        <p:nvGrpSpPr>
          <p:cNvPr id="11" name="组合 10"/>
          <p:cNvGrpSpPr/>
          <p:nvPr/>
        </p:nvGrpSpPr>
        <p:grpSpPr>
          <a:xfrm>
            <a:off x="4921736" y="5327650"/>
            <a:ext cx="442352" cy="442352"/>
            <a:chOff x="3954830" y="5669476"/>
            <a:chExt cx="552450" cy="552450"/>
          </a:xfrm>
        </p:grpSpPr>
        <p:sp>
          <p:nvSpPr>
            <p:cNvPr id="19" name="椭圆 18"/>
            <p:cNvSpPr/>
            <p:nvPr/>
          </p:nvSpPr>
          <p:spPr>
            <a:xfrm>
              <a:off x="3954830" y="5669476"/>
              <a:ext cx="552450" cy="5524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4081088" y="5784382"/>
              <a:ext cx="299934" cy="322638"/>
              <a:chOff x="1574801" y="1125538"/>
              <a:chExt cx="2894012" cy="3113087"/>
            </a:xfrm>
            <a:solidFill>
              <a:schemeClr val="bg1"/>
            </a:solidFill>
          </p:grpSpPr>
          <p:sp>
            <p:nvSpPr>
              <p:cNvPr id="21" name="Freeform 5"/>
              <p:cNvSpPr>
                <a:spLocks noEditPoints="1"/>
              </p:cNvSpPr>
              <p:nvPr/>
            </p:nvSpPr>
            <p:spPr bwMode="auto">
              <a:xfrm>
                <a:off x="2524125" y="3284538"/>
                <a:ext cx="288925" cy="287337"/>
              </a:xfrm>
              <a:custGeom>
                <a:avLst/>
                <a:gdLst>
                  <a:gd name="T0" fmla="*/ 0 w 264"/>
                  <a:gd name="T1" fmla="*/ 132 h 264"/>
                  <a:gd name="T2" fmla="*/ 39 w 264"/>
                  <a:gd name="T3" fmla="*/ 226 h 264"/>
                  <a:gd name="T4" fmla="*/ 132 w 264"/>
                  <a:gd name="T5" fmla="*/ 264 h 264"/>
                  <a:gd name="T6" fmla="*/ 226 w 264"/>
                  <a:gd name="T7" fmla="*/ 226 h 264"/>
                  <a:gd name="T8" fmla="*/ 264 w 264"/>
                  <a:gd name="T9" fmla="*/ 132 h 264"/>
                  <a:gd name="T10" fmla="*/ 226 w 264"/>
                  <a:gd name="T11" fmla="*/ 39 h 264"/>
                  <a:gd name="T12" fmla="*/ 132 w 264"/>
                  <a:gd name="T13" fmla="*/ 0 h 264"/>
                  <a:gd name="T14" fmla="*/ 39 w 264"/>
                  <a:gd name="T15" fmla="*/ 39 h 264"/>
                  <a:gd name="T16" fmla="*/ 0 w 264"/>
                  <a:gd name="T17" fmla="*/ 132 h 264"/>
                  <a:gd name="T18" fmla="*/ 0 w 264"/>
                  <a:gd name="T19" fmla="*/ 132 h 264"/>
                  <a:gd name="T20" fmla="*/ 0 w 264"/>
                  <a:gd name="T21" fmla="*/ 132 h 264"/>
                  <a:gd name="T22" fmla="*/ 0 w 264"/>
                  <a:gd name="T23" fmla="*/ 132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4" h="264">
                    <a:moveTo>
                      <a:pt x="0" y="132"/>
                    </a:moveTo>
                    <a:cubicBezTo>
                      <a:pt x="0" y="167"/>
                      <a:pt x="14" y="201"/>
                      <a:pt x="39" y="226"/>
                    </a:cubicBezTo>
                    <a:cubicBezTo>
                      <a:pt x="63" y="250"/>
                      <a:pt x="98" y="264"/>
                      <a:pt x="132" y="264"/>
                    </a:cubicBezTo>
                    <a:cubicBezTo>
                      <a:pt x="167" y="264"/>
                      <a:pt x="201" y="250"/>
                      <a:pt x="226" y="226"/>
                    </a:cubicBezTo>
                    <a:cubicBezTo>
                      <a:pt x="250" y="201"/>
                      <a:pt x="264" y="167"/>
                      <a:pt x="264" y="132"/>
                    </a:cubicBezTo>
                    <a:cubicBezTo>
                      <a:pt x="264" y="98"/>
                      <a:pt x="250" y="63"/>
                      <a:pt x="226" y="39"/>
                    </a:cubicBezTo>
                    <a:cubicBezTo>
                      <a:pt x="201" y="14"/>
                      <a:pt x="167" y="0"/>
                      <a:pt x="132" y="0"/>
                    </a:cubicBezTo>
                    <a:cubicBezTo>
                      <a:pt x="98" y="0"/>
                      <a:pt x="63" y="14"/>
                      <a:pt x="39" y="39"/>
                    </a:cubicBezTo>
                    <a:cubicBezTo>
                      <a:pt x="14" y="63"/>
                      <a:pt x="0" y="98"/>
                      <a:pt x="0" y="132"/>
                    </a:cubicBezTo>
                    <a:cubicBezTo>
                      <a:pt x="0" y="132"/>
                      <a:pt x="0" y="132"/>
                      <a:pt x="0" y="132"/>
                    </a:cubicBezTo>
                    <a:moveTo>
                      <a:pt x="0" y="132"/>
                    </a:moveTo>
                    <a:cubicBezTo>
                      <a:pt x="0" y="132"/>
                      <a:pt x="0" y="132"/>
                      <a:pt x="0" y="13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230563" y="3284538"/>
                <a:ext cx="288925" cy="287337"/>
              </a:xfrm>
              <a:custGeom>
                <a:avLst/>
                <a:gdLst>
                  <a:gd name="T0" fmla="*/ 0 w 264"/>
                  <a:gd name="T1" fmla="*/ 132 h 264"/>
                  <a:gd name="T2" fmla="*/ 39 w 264"/>
                  <a:gd name="T3" fmla="*/ 226 h 264"/>
                  <a:gd name="T4" fmla="*/ 132 w 264"/>
                  <a:gd name="T5" fmla="*/ 264 h 264"/>
                  <a:gd name="T6" fmla="*/ 225 w 264"/>
                  <a:gd name="T7" fmla="*/ 226 h 264"/>
                  <a:gd name="T8" fmla="*/ 264 w 264"/>
                  <a:gd name="T9" fmla="*/ 132 h 264"/>
                  <a:gd name="T10" fmla="*/ 225 w 264"/>
                  <a:gd name="T11" fmla="*/ 39 h 264"/>
                  <a:gd name="T12" fmla="*/ 132 w 264"/>
                  <a:gd name="T13" fmla="*/ 0 h 264"/>
                  <a:gd name="T14" fmla="*/ 39 w 264"/>
                  <a:gd name="T15" fmla="*/ 39 h 264"/>
                  <a:gd name="T16" fmla="*/ 0 w 264"/>
                  <a:gd name="T17" fmla="*/ 132 h 264"/>
                  <a:gd name="T18" fmla="*/ 0 w 264"/>
                  <a:gd name="T19" fmla="*/ 132 h 264"/>
                  <a:gd name="T20" fmla="*/ 0 w 264"/>
                  <a:gd name="T21" fmla="*/ 132 h 264"/>
                  <a:gd name="T22" fmla="*/ 0 w 264"/>
                  <a:gd name="T23" fmla="*/ 132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4" h="264">
                    <a:moveTo>
                      <a:pt x="0" y="132"/>
                    </a:moveTo>
                    <a:cubicBezTo>
                      <a:pt x="0" y="167"/>
                      <a:pt x="14" y="201"/>
                      <a:pt x="39" y="226"/>
                    </a:cubicBezTo>
                    <a:cubicBezTo>
                      <a:pt x="63" y="250"/>
                      <a:pt x="97" y="264"/>
                      <a:pt x="132" y="264"/>
                    </a:cubicBezTo>
                    <a:cubicBezTo>
                      <a:pt x="167" y="264"/>
                      <a:pt x="201" y="250"/>
                      <a:pt x="225" y="226"/>
                    </a:cubicBezTo>
                    <a:cubicBezTo>
                      <a:pt x="250" y="201"/>
                      <a:pt x="264" y="167"/>
                      <a:pt x="264" y="132"/>
                    </a:cubicBezTo>
                    <a:cubicBezTo>
                      <a:pt x="264" y="98"/>
                      <a:pt x="250" y="63"/>
                      <a:pt x="225" y="39"/>
                    </a:cubicBezTo>
                    <a:cubicBezTo>
                      <a:pt x="201" y="14"/>
                      <a:pt x="167" y="0"/>
                      <a:pt x="132" y="0"/>
                    </a:cubicBezTo>
                    <a:cubicBezTo>
                      <a:pt x="97" y="0"/>
                      <a:pt x="63" y="14"/>
                      <a:pt x="39" y="39"/>
                    </a:cubicBezTo>
                    <a:cubicBezTo>
                      <a:pt x="14" y="63"/>
                      <a:pt x="0" y="98"/>
                      <a:pt x="0" y="132"/>
                    </a:cubicBezTo>
                    <a:cubicBezTo>
                      <a:pt x="0" y="132"/>
                      <a:pt x="0" y="132"/>
                      <a:pt x="0" y="132"/>
                    </a:cubicBezTo>
                    <a:moveTo>
                      <a:pt x="0" y="132"/>
                    </a:moveTo>
                    <a:cubicBezTo>
                      <a:pt x="0" y="132"/>
                      <a:pt x="0" y="132"/>
                      <a:pt x="0" y="13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1574801" y="1125538"/>
                <a:ext cx="2894012" cy="1349375"/>
              </a:xfrm>
              <a:custGeom>
                <a:avLst/>
                <a:gdLst>
                  <a:gd name="T0" fmla="*/ 2649 w 2649"/>
                  <a:gd name="T1" fmla="*/ 599 h 1236"/>
                  <a:gd name="T2" fmla="*/ 1324 w 2649"/>
                  <a:gd name="T3" fmla="*/ 0 h 1236"/>
                  <a:gd name="T4" fmla="*/ 0 w 2649"/>
                  <a:gd name="T5" fmla="*/ 599 h 1236"/>
                  <a:gd name="T6" fmla="*/ 1324 w 2649"/>
                  <a:gd name="T7" fmla="*/ 1199 h 1236"/>
                  <a:gd name="T8" fmla="*/ 2495 w 2649"/>
                  <a:gd name="T9" fmla="*/ 667 h 1236"/>
                  <a:gd name="T10" fmla="*/ 2436 w 2649"/>
                  <a:gd name="T11" fmla="*/ 1236 h 1236"/>
                  <a:gd name="T12" fmla="*/ 2519 w 2649"/>
                  <a:gd name="T13" fmla="*/ 1236 h 1236"/>
                  <a:gd name="T14" fmla="*/ 2603 w 2649"/>
                  <a:gd name="T15" fmla="*/ 1236 h 1236"/>
                  <a:gd name="T16" fmla="*/ 2543 w 2649"/>
                  <a:gd name="T17" fmla="*/ 645 h 1236"/>
                  <a:gd name="T18" fmla="*/ 2649 w 2649"/>
                  <a:gd name="T19" fmla="*/ 599 h 1236"/>
                  <a:gd name="T20" fmla="*/ 2649 w 2649"/>
                  <a:gd name="T21" fmla="*/ 599 h 1236"/>
                  <a:gd name="T22" fmla="*/ 2649 w 2649"/>
                  <a:gd name="T23" fmla="*/ 599 h 1236"/>
                  <a:gd name="T24" fmla="*/ 2649 w 2649"/>
                  <a:gd name="T25" fmla="*/ 599 h 1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649" h="1236">
                    <a:moveTo>
                      <a:pt x="2649" y="599"/>
                    </a:moveTo>
                    <a:cubicBezTo>
                      <a:pt x="1324" y="0"/>
                      <a:pt x="1324" y="0"/>
                      <a:pt x="1324" y="0"/>
                    </a:cubicBezTo>
                    <a:cubicBezTo>
                      <a:pt x="0" y="599"/>
                      <a:pt x="0" y="599"/>
                      <a:pt x="0" y="599"/>
                    </a:cubicBezTo>
                    <a:cubicBezTo>
                      <a:pt x="1324" y="1199"/>
                      <a:pt x="1324" y="1199"/>
                      <a:pt x="1324" y="1199"/>
                    </a:cubicBezTo>
                    <a:cubicBezTo>
                      <a:pt x="2495" y="667"/>
                      <a:pt x="2495" y="667"/>
                      <a:pt x="2495" y="667"/>
                    </a:cubicBezTo>
                    <a:cubicBezTo>
                      <a:pt x="2490" y="924"/>
                      <a:pt x="2456" y="1209"/>
                      <a:pt x="2436" y="1236"/>
                    </a:cubicBezTo>
                    <a:cubicBezTo>
                      <a:pt x="2519" y="1236"/>
                      <a:pt x="2519" y="1236"/>
                      <a:pt x="2519" y="1236"/>
                    </a:cubicBezTo>
                    <a:cubicBezTo>
                      <a:pt x="2603" y="1236"/>
                      <a:pt x="2603" y="1236"/>
                      <a:pt x="2603" y="1236"/>
                    </a:cubicBezTo>
                    <a:cubicBezTo>
                      <a:pt x="2582" y="1209"/>
                      <a:pt x="2547" y="908"/>
                      <a:pt x="2543" y="645"/>
                    </a:cubicBezTo>
                    <a:cubicBezTo>
                      <a:pt x="2649" y="599"/>
                      <a:pt x="2649" y="599"/>
                      <a:pt x="2649" y="599"/>
                    </a:cubicBezTo>
                    <a:cubicBezTo>
                      <a:pt x="2649" y="599"/>
                      <a:pt x="2649" y="599"/>
                      <a:pt x="2649" y="599"/>
                    </a:cubicBezTo>
                    <a:moveTo>
                      <a:pt x="2649" y="599"/>
                    </a:moveTo>
                    <a:cubicBezTo>
                      <a:pt x="2649" y="599"/>
                      <a:pt x="2649" y="599"/>
                      <a:pt x="2649" y="59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8"/>
              <p:cNvSpPr>
                <a:spLocks noEditPoints="1"/>
              </p:cNvSpPr>
              <p:nvPr/>
            </p:nvSpPr>
            <p:spPr bwMode="auto">
              <a:xfrm>
                <a:off x="1787525" y="2146300"/>
                <a:ext cx="2470150" cy="2092325"/>
              </a:xfrm>
              <a:custGeom>
                <a:avLst/>
                <a:gdLst>
                  <a:gd name="T0" fmla="*/ 1130 w 2261"/>
                  <a:gd name="T1" fmla="*/ 392 h 1918"/>
                  <a:gd name="T2" fmla="*/ 313 w 2261"/>
                  <a:gd name="T3" fmla="*/ 9 h 1918"/>
                  <a:gd name="T4" fmla="*/ 0 w 2261"/>
                  <a:gd name="T5" fmla="*/ 788 h 1918"/>
                  <a:gd name="T6" fmla="*/ 1130 w 2261"/>
                  <a:gd name="T7" fmla="*/ 1918 h 1918"/>
                  <a:gd name="T8" fmla="*/ 2261 w 2261"/>
                  <a:gd name="T9" fmla="*/ 788 h 1918"/>
                  <a:gd name="T10" fmla="*/ 1939 w 2261"/>
                  <a:gd name="T11" fmla="*/ 0 h 1918"/>
                  <a:gd name="T12" fmla="*/ 1130 w 2261"/>
                  <a:gd name="T13" fmla="*/ 392 h 1918"/>
                  <a:gd name="T14" fmla="*/ 1130 w 2261"/>
                  <a:gd name="T15" fmla="*/ 392 h 1918"/>
                  <a:gd name="T16" fmla="*/ 2084 w 2261"/>
                  <a:gd name="T17" fmla="*/ 782 h 1918"/>
                  <a:gd name="T18" fmla="*/ 2084 w 2261"/>
                  <a:gd name="T19" fmla="*/ 788 h 1918"/>
                  <a:gd name="T20" fmla="*/ 1130 w 2261"/>
                  <a:gd name="T21" fmla="*/ 1742 h 1918"/>
                  <a:gd name="T22" fmla="*/ 177 w 2261"/>
                  <a:gd name="T23" fmla="*/ 821 h 1918"/>
                  <a:gd name="T24" fmla="*/ 189 w 2261"/>
                  <a:gd name="T25" fmla="*/ 837 h 1918"/>
                  <a:gd name="T26" fmla="*/ 1115 w 2261"/>
                  <a:gd name="T27" fmla="*/ 767 h 1918"/>
                  <a:gd name="T28" fmla="*/ 1247 w 2261"/>
                  <a:gd name="T29" fmla="*/ 649 h 1918"/>
                  <a:gd name="T30" fmla="*/ 1094 w 2261"/>
                  <a:gd name="T31" fmla="*/ 1043 h 1918"/>
                  <a:gd name="T32" fmla="*/ 1398 w 2261"/>
                  <a:gd name="T33" fmla="*/ 695 h 1918"/>
                  <a:gd name="T34" fmla="*/ 2060 w 2261"/>
                  <a:gd name="T35" fmla="*/ 811 h 1918"/>
                  <a:gd name="T36" fmla="*/ 2084 w 2261"/>
                  <a:gd name="T37" fmla="*/ 782 h 1918"/>
                  <a:gd name="T38" fmla="*/ 2084 w 2261"/>
                  <a:gd name="T39" fmla="*/ 782 h 1918"/>
                  <a:gd name="T40" fmla="*/ 2084 w 2261"/>
                  <a:gd name="T41" fmla="*/ 782 h 1918"/>
                  <a:gd name="T42" fmla="*/ 2084 w 2261"/>
                  <a:gd name="T43" fmla="*/ 782 h 19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261" h="1918">
                    <a:moveTo>
                      <a:pt x="1130" y="392"/>
                    </a:moveTo>
                    <a:cubicBezTo>
                      <a:pt x="313" y="9"/>
                      <a:pt x="313" y="9"/>
                      <a:pt x="313" y="9"/>
                    </a:cubicBezTo>
                    <a:cubicBezTo>
                      <a:pt x="120" y="212"/>
                      <a:pt x="0" y="486"/>
                      <a:pt x="0" y="788"/>
                    </a:cubicBezTo>
                    <a:cubicBezTo>
                      <a:pt x="0" y="1411"/>
                      <a:pt x="507" y="1918"/>
                      <a:pt x="1130" y="1918"/>
                    </a:cubicBezTo>
                    <a:cubicBezTo>
                      <a:pt x="1754" y="1918"/>
                      <a:pt x="2261" y="1411"/>
                      <a:pt x="2261" y="788"/>
                    </a:cubicBezTo>
                    <a:cubicBezTo>
                      <a:pt x="2261" y="482"/>
                      <a:pt x="2137" y="204"/>
                      <a:pt x="1939" y="0"/>
                    </a:cubicBezTo>
                    <a:cubicBezTo>
                      <a:pt x="1130" y="392"/>
                      <a:pt x="1130" y="392"/>
                      <a:pt x="1130" y="392"/>
                    </a:cubicBezTo>
                    <a:cubicBezTo>
                      <a:pt x="1130" y="392"/>
                      <a:pt x="1130" y="392"/>
                      <a:pt x="1130" y="392"/>
                    </a:cubicBezTo>
                    <a:moveTo>
                      <a:pt x="2084" y="782"/>
                    </a:moveTo>
                    <a:cubicBezTo>
                      <a:pt x="2084" y="784"/>
                      <a:pt x="2084" y="786"/>
                      <a:pt x="2084" y="788"/>
                    </a:cubicBezTo>
                    <a:cubicBezTo>
                      <a:pt x="2084" y="1314"/>
                      <a:pt x="1656" y="1742"/>
                      <a:pt x="1130" y="1742"/>
                    </a:cubicBezTo>
                    <a:cubicBezTo>
                      <a:pt x="616" y="1742"/>
                      <a:pt x="195" y="1332"/>
                      <a:pt x="177" y="821"/>
                    </a:cubicBezTo>
                    <a:cubicBezTo>
                      <a:pt x="181" y="826"/>
                      <a:pt x="185" y="832"/>
                      <a:pt x="189" y="837"/>
                    </a:cubicBezTo>
                    <a:cubicBezTo>
                      <a:pt x="358" y="1059"/>
                      <a:pt x="773" y="1028"/>
                      <a:pt x="1115" y="767"/>
                    </a:cubicBezTo>
                    <a:cubicBezTo>
                      <a:pt x="1163" y="730"/>
                      <a:pt x="1207" y="690"/>
                      <a:pt x="1247" y="649"/>
                    </a:cubicBezTo>
                    <a:cubicBezTo>
                      <a:pt x="1242" y="834"/>
                      <a:pt x="1210" y="951"/>
                      <a:pt x="1094" y="1043"/>
                    </a:cubicBezTo>
                    <a:cubicBezTo>
                      <a:pt x="1251" y="974"/>
                      <a:pt x="1343" y="834"/>
                      <a:pt x="1398" y="695"/>
                    </a:cubicBezTo>
                    <a:cubicBezTo>
                      <a:pt x="1626" y="902"/>
                      <a:pt x="1917" y="956"/>
                      <a:pt x="2060" y="811"/>
                    </a:cubicBezTo>
                    <a:cubicBezTo>
                      <a:pt x="2069" y="802"/>
                      <a:pt x="2077" y="792"/>
                      <a:pt x="2084" y="782"/>
                    </a:cubicBezTo>
                    <a:cubicBezTo>
                      <a:pt x="2084" y="782"/>
                      <a:pt x="2084" y="782"/>
                      <a:pt x="2084" y="782"/>
                    </a:cubicBezTo>
                    <a:moveTo>
                      <a:pt x="2084" y="782"/>
                    </a:moveTo>
                    <a:cubicBezTo>
                      <a:pt x="2084" y="782"/>
                      <a:pt x="2084" y="782"/>
                      <a:pt x="2084" y="78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6743755" y="5327650"/>
            <a:ext cx="442352" cy="442352"/>
            <a:chOff x="5853219" y="5669476"/>
            <a:chExt cx="552450" cy="552450"/>
          </a:xfrm>
        </p:grpSpPr>
        <p:sp>
          <p:nvSpPr>
            <p:cNvPr id="14" name="椭圆 13"/>
            <p:cNvSpPr/>
            <p:nvPr/>
          </p:nvSpPr>
          <p:spPr>
            <a:xfrm>
              <a:off x="5853219" y="5669476"/>
              <a:ext cx="552450" cy="5524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967384" y="5780269"/>
              <a:ext cx="324120" cy="330864"/>
              <a:chOff x="5649913" y="2301875"/>
              <a:chExt cx="3127375" cy="3192463"/>
            </a:xfrm>
            <a:solidFill>
              <a:schemeClr val="bg1"/>
            </a:solidFill>
          </p:grpSpPr>
          <p:sp>
            <p:nvSpPr>
              <p:cNvPr id="16" name="Freeform 12"/>
              <p:cNvSpPr>
                <a:spLocks noEditPoints="1"/>
              </p:cNvSpPr>
              <p:nvPr/>
            </p:nvSpPr>
            <p:spPr bwMode="auto">
              <a:xfrm>
                <a:off x="6657975" y="3275013"/>
                <a:ext cx="1139825" cy="384175"/>
              </a:xfrm>
              <a:custGeom>
                <a:avLst/>
                <a:gdLst>
                  <a:gd name="T0" fmla="*/ 126 w 1039"/>
                  <a:gd name="T1" fmla="*/ 334 h 350"/>
                  <a:gd name="T2" fmla="*/ 46 w 1039"/>
                  <a:gd name="T3" fmla="*/ 187 h 350"/>
                  <a:gd name="T4" fmla="*/ 39 w 1039"/>
                  <a:gd name="T5" fmla="*/ 157 h 350"/>
                  <a:gd name="T6" fmla="*/ 37 w 1039"/>
                  <a:gd name="T7" fmla="*/ 150 h 350"/>
                  <a:gd name="T8" fmla="*/ 31 w 1039"/>
                  <a:gd name="T9" fmla="*/ 127 h 350"/>
                  <a:gd name="T10" fmla="*/ 1 w 1039"/>
                  <a:gd name="T11" fmla="*/ 87 h 350"/>
                  <a:gd name="T12" fmla="*/ 2 w 1039"/>
                  <a:gd name="T13" fmla="*/ 39 h 350"/>
                  <a:gd name="T14" fmla="*/ 11 w 1039"/>
                  <a:gd name="T15" fmla="*/ 21 h 350"/>
                  <a:gd name="T16" fmla="*/ 222 w 1039"/>
                  <a:gd name="T17" fmla="*/ 1 h 350"/>
                  <a:gd name="T18" fmla="*/ 373 w 1039"/>
                  <a:gd name="T19" fmla="*/ 14 h 350"/>
                  <a:gd name="T20" fmla="*/ 514 w 1039"/>
                  <a:gd name="T21" fmla="*/ 49 h 350"/>
                  <a:gd name="T22" fmla="*/ 381 w 1039"/>
                  <a:gd name="T23" fmla="*/ 307 h 350"/>
                  <a:gd name="T24" fmla="*/ 220 w 1039"/>
                  <a:gd name="T25" fmla="*/ 350 h 350"/>
                  <a:gd name="T26" fmla="*/ 225 w 1039"/>
                  <a:gd name="T27" fmla="*/ 329 h 350"/>
                  <a:gd name="T28" fmla="*/ 395 w 1039"/>
                  <a:gd name="T29" fmla="*/ 249 h 350"/>
                  <a:gd name="T30" fmla="*/ 431 w 1039"/>
                  <a:gd name="T31" fmla="*/ 71 h 350"/>
                  <a:gd name="T32" fmla="*/ 358 w 1039"/>
                  <a:gd name="T33" fmla="*/ 42 h 350"/>
                  <a:gd name="T34" fmla="*/ 238 w 1039"/>
                  <a:gd name="T35" fmla="*/ 31 h 350"/>
                  <a:gd name="T36" fmla="*/ 91 w 1039"/>
                  <a:gd name="T37" fmla="*/ 56 h 350"/>
                  <a:gd name="T38" fmla="*/ 80 w 1039"/>
                  <a:gd name="T39" fmla="*/ 111 h 350"/>
                  <a:gd name="T40" fmla="*/ 90 w 1039"/>
                  <a:gd name="T41" fmla="*/ 237 h 350"/>
                  <a:gd name="T42" fmla="*/ 148 w 1039"/>
                  <a:gd name="T43" fmla="*/ 322 h 350"/>
                  <a:gd name="T44" fmla="*/ 815 w 1039"/>
                  <a:gd name="T45" fmla="*/ 348 h 350"/>
                  <a:gd name="T46" fmla="*/ 609 w 1039"/>
                  <a:gd name="T47" fmla="*/ 254 h 350"/>
                  <a:gd name="T48" fmla="*/ 564 w 1039"/>
                  <a:gd name="T49" fmla="*/ 40 h 350"/>
                  <a:gd name="T50" fmla="*/ 699 w 1039"/>
                  <a:gd name="T51" fmla="*/ 6 h 350"/>
                  <a:gd name="T52" fmla="*/ 852 w 1039"/>
                  <a:gd name="T53" fmla="*/ 1 h 350"/>
                  <a:gd name="T54" fmla="*/ 1032 w 1039"/>
                  <a:gd name="T55" fmla="*/ 19 h 350"/>
                  <a:gd name="T56" fmla="*/ 1038 w 1039"/>
                  <a:gd name="T57" fmla="*/ 32 h 350"/>
                  <a:gd name="T58" fmla="*/ 1039 w 1039"/>
                  <a:gd name="T59" fmla="*/ 73 h 350"/>
                  <a:gd name="T60" fmla="*/ 1016 w 1039"/>
                  <a:gd name="T61" fmla="*/ 103 h 350"/>
                  <a:gd name="T62" fmla="*/ 990 w 1039"/>
                  <a:gd name="T63" fmla="*/ 205 h 350"/>
                  <a:gd name="T64" fmla="*/ 898 w 1039"/>
                  <a:gd name="T65" fmla="*/ 338 h 350"/>
                  <a:gd name="T66" fmla="*/ 784 w 1039"/>
                  <a:gd name="T67" fmla="*/ 30 h 350"/>
                  <a:gd name="T68" fmla="*/ 645 w 1039"/>
                  <a:gd name="T69" fmla="*/ 51 h 350"/>
                  <a:gd name="T70" fmla="*/ 601 w 1039"/>
                  <a:gd name="T71" fmla="*/ 116 h 350"/>
                  <a:gd name="T72" fmla="*/ 727 w 1039"/>
                  <a:gd name="T73" fmla="*/ 314 h 350"/>
                  <a:gd name="T74" fmla="*/ 877 w 1039"/>
                  <a:gd name="T75" fmla="*/ 317 h 350"/>
                  <a:gd name="T76" fmla="*/ 961 w 1039"/>
                  <a:gd name="T77" fmla="*/ 156 h 350"/>
                  <a:gd name="T78" fmla="*/ 960 w 1039"/>
                  <a:gd name="T79" fmla="*/ 113 h 350"/>
                  <a:gd name="T80" fmla="*/ 955 w 1039"/>
                  <a:gd name="T81" fmla="*/ 84 h 350"/>
                  <a:gd name="T82" fmla="*/ 911 w 1039"/>
                  <a:gd name="T83" fmla="*/ 45 h 350"/>
                  <a:gd name="T84" fmla="*/ 784 w 1039"/>
                  <a:gd name="T85" fmla="*/ 30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39" h="350">
                    <a:moveTo>
                      <a:pt x="220" y="350"/>
                    </a:moveTo>
                    <a:cubicBezTo>
                      <a:pt x="202" y="350"/>
                      <a:pt x="185" y="348"/>
                      <a:pt x="169" y="346"/>
                    </a:cubicBezTo>
                    <a:cubicBezTo>
                      <a:pt x="153" y="343"/>
                      <a:pt x="139" y="339"/>
                      <a:pt x="126" y="334"/>
                    </a:cubicBezTo>
                    <a:cubicBezTo>
                      <a:pt x="104" y="325"/>
                      <a:pt x="88" y="309"/>
                      <a:pt x="76" y="286"/>
                    </a:cubicBezTo>
                    <a:cubicBezTo>
                      <a:pt x="67" y="269"/>
                      <a:pt x="60" y="250"/>
                      <a:pt x="54" y="225"/>
                    </a:cubicBezTo>
                    <a:cubicBezTo>
                      <a:pt x="51" y="212"/>
                      <a:pt x="48" y="198"/>
                      <a:pt x="46" y="187"/>
                    </a:cubicBezTo>
                    <a:cubicBezTo>
                      <a:pt x="45" y="185"/>
                      <a:pt x="45" y="185"/>
                      <a:pt x="45" y="185"/>
                    </a:cubicBezTo>
                    <a:cubicBezTo>
                      <a:pt x="43" y="176"/>
                      <a:pt x="41" y="167"/>
                      <a:pt x="40" y="158"/>
                    </a:cubicBezTo>
                    <a:cubicBezTo>
                      <a:pt x="39" y="157"/>
                      <a:pt x="39" y="157"/>
                      <a:pt x="39" y="157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38" y="154"/>
                      <a:pt x="38" y="152"/>
                      <a:pt x="37" y="150"/>
                    </a:cubicBezTo>
                    <a:cubicBezTo>
                      <a:pt x="37" y="150"/>
                      <a:pt x="37" y="150"/>
                      <a:pt x="37" y="150"/>
                    </a:cubicBezTo>
                    <a:cubicBezTo>
                      <a:pt x="36" y="148"/>
                      <a:pt x="36" y="146"/>
                      <a:pt x="35" y="144"/>
                    </a:cubicBezTo>
                    <a:cubicBezTo>
                      <a:pt x="35" y="142"/>
                      <a:pt x="34" y="139"/>
                      <a:pt x="33" y="137"/>
                    </a:cubicBezTo>
                    <a:cubicBezTo>
                      <a:pt x="32" y="133"/>
                      <a:pt x="31" y="130"/>
                      <a:pt x="31" y="127"/>
                    </a:cubicBezTo>
                    <a:cubicBezTo>
                      <a:pt x="24" y="104"/>
                      <a:pt x="24" y="104"/>
                      <a:pt x="24" y="104"/>
                    </a:cubicBezTo>
                    <a:cubicBezTo>
                      <a:pt x="4" y="91"/>
                      <a:pt x="4" y="91"/>
                      <a:pt x="4" y="91"/>
                    </a:cubicBezTo>
                    <a:cubicBezTo>
                      <a:pt x="2" y="90"/>
                      <a:pt x="2" y="89"/>
                      <a:pt x="1" y="87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1" y="83"/>
                      <a:pt x="0" y="81"/>
                      <a:pt x="0" y="79"/>
                    </a:cubicBezTo>
                    <a:cubicBezTo>
                      <a:pt x="1" y="66"/>
                      <a:pt x="1" y="52"/>
                      <a:pt x="2" y="3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5"/>
                      <a:pt x="4" y="23"/>
                      <a:pt x="7" y="22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5" y="20"/>
                      <a:pt x="21" y="18"/>
                      <a:pt x="26" y="17"/>
                    </a:cubicBezTo>
                    <a:cubicBezTo>
                      <a:pt x="53" y="14"/>
                      <a:pt x="82" y="10"/>
                      <a:pt x="112" y="6"/>
                    </a:cubicBezTo>
                    <a:cubicBezTo>
                      <a:pt x="144" y="2"/>
                      <a:pt x="178" y="1"/>
                      <a:pt x="222" y="1"/>
                    </a:cubicBezTo>
                    <a:cubicBezTo>
                      <a:pt x="222" y="1"/>
                      <a:pt x="222" y="1"/>
                      <a:pt x="222" y="1"/>
                    </a:cubicBezTo>
                    <a:cubicBezTo>
                      <a:pt x="224" y="1"/>
                      <a:pt x="227" y="1"/>
                      <a:pt x="229" y="1"/>
                    </a:cubicBezTo>
                    <a:cubicBezTo>
                      <a:pt x="277" y="1"/>
                      <a:pt x="325" y="5"/>
                      <a:pt x="373" y="14"/>
                    </a:cubicBezTo>
                    <a:cubicBezTo>
                      <a:pt x="400" y="19"/>
                      <a:pt x="427" y="28"/>
                      <a:pt x="450" y="35"/>
                    </a:cubicBezTo>
                    <a:cubicBezTo>
                      <a:pt x="468" y="41"/>
                      <a:pt x="481" y="44"/>
                      <a:pt x="493" y="47"/>
                    </a:cubicBezTo>
                    <a:cubicBezTo>
                      <a:pt x="500" y="48"/>
                      <a:pt x="507" y="48"/>
                      <a:pt x="514" y="49"/>
                    </a:cubicBezTo>
                    <a:cubicBezTo>
                      <a:pt x="457" y="195"/>
                      <a:pt x="457" y="195"/>
                      <a:pt x="457" y="195"/>
                    </a:cubicBezTo>
                    <a:cubicBezTo>
                      <a:pt x="451" y="210"/>
                      <a:pt x="445" y="224"/>
                      <a:pt x="439" y="236"/>
                    </a:cubicBezTo>
                    <a:cubicBezTo>
                      <a:pt x="424" y="264"/>
                      <a:pt x="405" y="288"/>
                      <a:pt x="381" y="307"/>
                    </a:cubicBezTo>
                    <a:cubicBezTo>
                      <a:pt x="368" y="319"/>
                      <a:pt x="351" y="328"/>
                      <a:pt x="328" y="335"/>
                    </a:cubicBezTo>
                    <a:cubicBezTo>
                      <a:pt x="305" y="342"/>
                      <a:pt x="278" y="346"/>
                      <a:pt x="249" y="349"/>
                    </a:cubicBezTo>
                    <a:cubicBezTo>
                      <a:pt x="239" y="349"/>
                      <a:pt x="229" y="350"/>
                      <a:pt x="220" y="350"/>
                    </a:cubicBezTo>
                    <a:close/>
                    <a:moveTo>
                      <a:pt x="161" y="322"/>
                    </a:moveTo>
                    <a:cubicBezTo>
                      <a:pt x="167" y="323"/>
                      <a:pt x="173" y="325"/>
                      <a:pt x="179" y="326"/>
                    </a:cubicBezTo>
                    <a:cubicBezTo>
                      <a:pt x="194" y="328"/>
                      <a:pt x="210" y="329"/>
                      <a:pt x="225" y="329"/>
                    </a:cubicBezTo>
                    <a:cubicBezTo>
                      <a:pt x="253" y="329"/>
                      <a:pt x="281" y="325"/>
                      <a:pt x="308" y="318"/>
                    </a:cubicBezTo>
                    <a:cubicBezTo>
                      <a:pt x="332" y="312"/>
                      <a:pt x="350" y="302"/>
                      <a:pt x="365" y="288"/>
                    </a:cubicBezTo>
                    <a:cubicBezTo>
                      <a:pt x="376" y="278"/>
                      <a:pt x="385" y="266"/>
                      <a:pt x="395" y="249"/>
                    </a:cubicBezTo>
                    <a:cubicBezTo>
                      <a:pt x="410" y="222"/>
                      <a:pt x="422" y="194"/>
                      <a:pt x="429" y="165"/>
                    </a:cubicBezTo>
                    <a:cubicBezTo>
                      <a:pt x="434" y="144"/>
                      <a:pt x="435" y="125"/>
                      <a:pt x="434" y="107"/>
                    </a:cubicBezTo>
                    <a:cubicBezTo>
                      <a:pt x="431" y="71"/>
                      <a:pt x="431" y="71"/>
                      <a:pt x="431" y="71"/>
                    </a:cubicBezTo>
                    <a:cubicBezTo>
                      <a:pt x="399" y="54"/>
                      <a:pt x="399" y="54"/>
                      <a:pt x="399" y="54"/>
                    </a:cubicBezTo>
                    <a:cubicBezTo>
                      <a:pt x="388" y="49"/>
                      <a:pt x="377" y="46"/>
                      <a:pt x="362" y="42"/>
                    </a:cubicBezTo>
                    <a:cubicBezTo>
                      <a:pt x="358" y="42"/>
                      <a:pt x="358" y="42"/>
                      <a:pt x="358" y="42"/>
                    </a:cubicBezTo>
                    <a:cubicBezTo>
                      <a:pt x="328" y="35"/>
                      <a:pt x="296" y="31"/>
                      <a:pt x="251" y="31"/>
                    </a:cubicBezTo>
                    <a:cubicBezTo>
                      <a:pt x="249" y="31"/>
                      <a:pt x="249" y="31"/>
                      <a:pt x="249" y="31"/>
                    </a:cubicBezTo>
                    <a:cubicBezTo>
                      <a:pt x="238" y="31"/>
                      <a:pt x="238" y="31"/>
                      <a:pt x="238" y="31"/>
                    </a:cubicBezTo>
                    <a:cubicBezTo>
                      <a:pt x="227" y="32"/>
                      <a:pt x="214" y="33"/>
                      <a:pt x="201" y="34"/>
                    </a:cubicBezTo>
                    <a:cubicBezTo>
                      <a:pt x="175" y="36"/>
                      <a:pt x="152" y="40"/>
                      <a:pt x="130" y="45"/>
                    </a:cubicBezTo>
                    <a:cubicBezTo>
                      <a:pt x="91" y="56"/>
                      <a:pt x="91" y="56"/>
                      <a:pt x="91" y="56"/>
                    </a:cubicBezTo>
                    <a:cubicBezTo>
                      <a:pt x="82" y="94"/>
                      <a:pt x="82" y="94"/>
                      <a:pt x="82" y="94"/>
                    </a:cubicBezTo>
                    <a:cubicBezTo>
                      <a:pt x="81" y="99"/>
                      <a:pt x="81" y="105"/>
                      <a:pt x="80" y="111"/>
                    </a:cubicBezTo>
                    <a:cubicBezTo>
                      <a:pt x="80" y="111"/>
                      <a:pt x="80" y="111"/>
                      <a:pt x="80" y="111"/>
                    </a:cubicBezTo>
                    <a:cubicBezTo>
                      <a:pt x="80" y="113"/>
                      <a:pt x="79" y="115"/>
                      <a:pt x="79" y="116"/>
                    </a:cubicBezTo>
                    <a:cubicBezTo>
                      <a:pt x="77" y="131"/>
                      <a:pt x="77" y="146"/>
                      <a:pt x="79" y="161"/>
                    </a:cubicBezTo>
                    <a:cubicBezTo>
                      <a:pt x="81" y="182"/>
                      <a:pt x="84" y="209"/>
                      <a:pt x="90" y="237"/>
                    </a:cubicBezTo>
                    <a:cubicBezTo>
                      <a:pt x="95" y="258"/>
                      <a:pt x="103" y="276"/>
                      <a:pt x="113" y="290"/>
                    </a:cubicBezTo>
                    <a:cubicBezTo>
                      <a:pt x="118" y="298"/>
                      <a:pt x="124" y="305"/>
                      <a:pt x="131" y="310"/>
                    </a:cubicBezTo>
                    <a:cubicBezTo>
                      <a:pt x="148" y="322"/>
                      <a:pt x="148" y="322"/>
                      <a:pt x="148" y="322"/>
                    </a:cubicBezTo>
                    <a:cubicBezTo>
                      <a:pt x="161" y="322"/>
                      <a:pt x="161" y="322"/>
                      <a:pt x="161" y="322"/>
                    </a:cubicBezTo>
                    <a:cubicBezTo>
                      <a:pt x="161" y="322"/>
                      <a:pt x="161" y="322"/>
                      <a:pt x="161" y="322"/>
                    </a:cubicBezTo>
                    <a:close/>
                    <a:moveTo>
                      <a:pt x="815" y="348"/>
                    </a:moveTo>
                    <a:cubicBezTo>
                      <a:pt x="787" y="348"/>
                      <a:pt x="762" y="346"/>
                      <a:pt x="738" y="341"/>
                    </a:cubicBezTo>
                    <a:cubicBezTo>
                      <a:pt x="714" y="336"/>
                      <a:pt x="693" y="329"/>
                      <a:pt x="674" y="319"/>
                    </a:cubicBezTo>
                    <a:cubicBezTo>
                      <a:pt x="648" y="304"/>
                      <a:pt x="626" y="282"/>
                      <a:pt x="609" y="254"/>
                    </a:cubicBezTo>
                    <a:cubicBezTo>
                      <a:pt x="598" y="234"/>
                      <a:pt x="588" y="214"/>
                      <a:pt x="579" y="193"/>
                    </a:cubicBezTo>
                    <a:cubicBezTo>
                      <a:pt x="518" y="49"/>
                      <a:pt x="518" y="49"/>
                      <a:pt x="518" y="49"/>
                    </a:cubicBezTo>
                    <a:cubicBezTo>
                      <a:pt x="533" y="48"/>
                      <a:pt x="548" y="46"/>
                      <a:pt x="564" y="40"/>
                    </a:cubicBezTo>
                    <a:cubicBezTo>
                      <a:pt x="572" y="38"/>
                      <a:pt x="580" y="35"/>
                      <a:pt x="588" y="33"/>
                    </a:cubicBezTo>
                    <a:cubicBezTo>
                      <a:pt x="595" y="30"/>
                      <a:pt x="602" y="28"/>
                      <a:pt x="609" y="25"/>
                    </a:cubicBezTo>
                    <a:cubicBezTo>
                      <a:pt x="635" y="17"/>
                      <a:pt x="664" y="11"/>
                      <a:pt x="699" y="6"/>
                    </a:cubicBezTo>
                    <a:cubicBezTo>
                      <a:pt x="733" y="2"/>
                      <a:pt x="767" y="0"/>
                      <a:pt x="803" y="0"/>
                    </a:cubicBezTo>
                    <a:cubicBezTo>
                      <a:pt x="818" y="0"/>
                      <a:pt x="834" y="0"/>
                      <a:pt x="850" y="1"/>
                    </a:cubicBezTo>
                    <a:cubicBezTo>
                      <a:pt x="852" y="1"/>
                      <a:pt x="852" y="1"/>
                      <a:pt x="852" y="1"/>
                    </a:cubicBezTo>
                    <a:cubicBezTo>
                      <a:pt x="877" y="2"/>
                      <a:pt x="903" y="4"/>
                      <a:pt x="928" y="5"/>
                    </a:cubicBezTo>
                    <a:cubicBezTo>
                      <a:pt x="960" y="7"/>
                      <a:pt x="991" y="12"/>
                      <a:pt x="1026" y="18"/>
                    </a:cubicBezTo>
                    <a:cubicBezTo>
                      <a:pt x="1028" y="18"/>
                      <a:pt x="1030" y="18"/>
                      <a:pt x="1032" y="19"/>
                    </a:cubicBezTo>
                    <a:cubicBezTo>
                      <a:pt x="1033" y="19"/>
                      <a:pt x="1033" y="19"/>
                      <a:pt x="1033" y="19"/>
                    </a:cubicBezTo>
                    <a:cubicBezTo>
                      <a:pt x="1036" y="20"/>
                      <a:pt x="1037" y="21"/>
                      <a:pt x="1038" y="25"/>
                    </a:cubicBezTo>
                    <a:cubicBezTo>
                      <a:pt x="1038" y="27"/>
                      <a:pt x="1038" y="30"/>
                      <a:pt x="1038" y="32"/>
                    </a:cubicBezTo>
                    <a:cubicBezTo>
                      <a:pt x="1038" y="33"/>
                      <a:pt x="1038" y="33"/>
                      <a:pt x="1038" y="33"/>
                    </a:cubicBezTo>
                    <a:cubicBezTo>
                      <a:pt x="1039" y="38"/>
                      <a:pt x="1039" y="43"/>
                      <a:pt x="1039" y="47"/>
                    </a:cubicBezTo>
                    <a:cubicBezTo>
                      <a:pt x="1039" y="56"/>
                      <a:pt x="1039" y="64"/>
                      <a:pt x="1039" y="73"/>
                    </a:cubicBezTo>
                    <a:cubicBezTo>
                      <a:pt x="1030" y="55"/>
                      <a:pt x="1030" y="55"/>
                      <a:pt x="1030" y="55"/>
                    </a:cubicBezTo>
                    <a:cubicBezTo>
                      <a:pt x="1016" y="103"/>
                      <a:pt x="1016" y="103"/>
                      <a:pt x="1016" y="103"/>
                    </a:cubicBezTo>
                    <a:cubicBezTo>
                      <a:pt x="1016" y="103"/>
                      <a:pt x="1016" y="103"/>
                      <a:pt x="1016" y="103"/>
                    </a:cubicBezTo>
                    <a:cubicBezTo>
                      <a:pt x="1009" y="126"/>
                      <a:pt x="1009" y="126"/>
                      <a:pt x="1009" y="126"/>
                    </a:cubicBezTo>
                    <a:cubicBezTo>
                      <a:pt x="986" y="208"/>
                      <a:pt x="986" y="208"/>
                      <a:pt x="986" y="208"/>
                    </a:cubicBezTo>
                    <a:cubicBezTo>
                      <a:pt x="990" y="205"/>
                      <a:pt x="990" y="205"/>
                      <a:pt x="990" y="205"/>
                    </a:cubicBezTo>
                    <a:cubicBezTo>
                      <a:pt x="984" y="227"/>
                      <a:pt x="978" y="249"/>
                      <a:pt x="970" y="270"/>
                    </a:cubicBezTo>
                    <a:cubicBezTo>
                      <a:pt x="964" y="284"/>
                      <a:pt x="957" y="296"/>
                      <a:pt x="949" y="305"/>
                    </a:cubicBezTo>
                    <a:cubicBezTo>
                      <a:pt x="937" y="321"/>
                      <a:pt x="921" y="331"/>
                      <a:pt x="898" y="338"/>
                    </a:cubicBezTo>
                    <a:cubicBezTo>
                      <a:pt x="881" y="343"/>
                      <a:pt x="861" y="346"/>
                      <a:pt x="838" y="347"/>
                    </a:cubicBezTo>
                    <a:cubicBezTo>
                      <a:pt x="830" y="348"/>
                      <a:pt x="823" y="348"/>
                      <a:pt x="815" y="348"/>
                    </a:cubicBezTo>
                    <a:close/>
                    <a:moveTo>
                      <a:pt x="784" y="30"/>
                    </a:moveTo>
                    <a:cubicBezTo>
                      <a:pt x="775" y="30"/>
                      <a:pt x="763" y="31"/>
                      <a:pt x="751" y="31"/>
                    </a:cubicBezTo>
                    <a:cubicBezTo>
                      <a:pt x="732" y="33"/>
                      <a:pt x="711" y="35"/>
                      <a:pt x="689" y="40"/>
                    </a:cubicBezTo>
                    <a:cubicBezTo>
                      <a:pt x="676" y="42"/>
                      <a:pt x="660" y="46"/>
                      <a:pt x="645" y="51"/>
                    </a:cubicBezTo>
                    <a:cubicBezTo>
                      <a:pt x="604" y="65"/>
                      <a:pt x="604" y="65"/>
                      <a:pt x="604" y="65"/>
                    </a:cubicBezTo>
                    <a:cubicBezTo>
                      <a:pt x="601" y="108"/>
                      <a:pt x="601" y="108"/>
                      <a:pt x="601" y="108"/>
                    </a:cubicBezTo>
                    <a:cubicBezTo>
                      <a:pt x="601" y="110"/>
                      <a:pt x="601" y="113"/>
                      <a:pt x="601" y="116"/>
                    </a:cubicBezTo>
                    <a:cubicBezTo>
                      <a:pt x="600" y="132"/>
                      <a:pt x="603" y="149"/>
                      <a:pt x="607" y="168"/>
                    </a:cubicBezTo>
                    <a:cubicBezTo>
                      <a:pt x="616" y="207"/>
                      <a:pt x="632" y="240"/>
                      <a:pt x="655" y="269"/>
                    </a:cubicBezTo>
                    <a:cubicBezTo>
                      <a:pt x="674" y="293"/>
                      <a:pt x="698" y="308"/>
                      <a:pt x="727" y="314"/>
                    </a:cubicBezTo>
                    <a:cubicBezTo>
                      <a:pt x="758" y="320"/>
                      <a:pt x="786" y="324"/>
                      <a:pt x="814" y="324"/>
                    </a:cubicBezTo>
                    <a:cubicBezTo>
                      <a:pt x="817" y="324"/>
                      <a:pt x="817" y="324"/>
                      <a:pt x="817" y="324"/>
                    </a:cubicBezTo>
                    <a:cubicBezTo>
                      <a:pt x="835" y="323"/>
                      <a:pt x="856" y="323"/>
                      <a:pt x="877" y="317"/>
                    </a:cubicBezTo>
                    <a:cubicBezTo>
                      <a:pt x="896" y="312"/>
                      <a:pt x="908" y="305"/>
                      <a:pt x="919" y="295"/>
                    </a:cubicBezTo>
                    <a:cubicBezTo>
                      <a:pt x="928" y="286"/>
                      <a:pt x="936" y="274"/>
                      <a:pt x="941" y="259"/>
                    </a:cubicBezTo>
                    <a:cubicBezTo>
                      <a:pt x="953" y="227"/>
                      <a:pt x="960" y="193"/>
                      <a:pt x="961" y="156"/>
                    </a:cubicBezTo>
                    <a:cubicBezTo>
                      <a:pt x="961" y="154"/>
                      <a:pt x="961" y="154"/>
                      <a:pt x="961" y="154"/>
                    </a:cubicBezTo>
                    <a:cubicBezTo>
                      <a:pt x="961" y="142"/>
                      <a:pt x="961" y="130"/>
                      <a:pt x="960" y="118"/>
                    </a:cubicBezTo>
                    <a:cubicBezTo>
                      <a:pt x="960" y="113"/>
                      <a:pt x="960" y="113"/>
                      <a:pt x="960" y="113"/>
                    </a:cubicBezTo>
                    <a:cubicBezTo>
                      <a:pt x="960" y="108"/>
                      <a:pt x="960" y="105"/>
                      <a:pt x="959" y="102"/>
                    </a:cubicBezTo>
                    <a:cubicBezTo>
                      <a:pt x="958" y="93"/>
                      <a:pt x="958" y="93"/>
                      <a:pt x="958" y="93"/>
                    </a:cubicBezTo>
                    <a:cubicBezTo>
                      <a:pt x="955" y="84"/>
                      <a:pt x="955" y="84"/>
                      <a:pt x="955" y="84"/>
                    </a:cubicBezTo>
                    <a:cubicBezTo>
                      <a:pt x="955" y="83"/>
                      <a:pt x="954" y="82"/>
                      <a:pt x="954" y="81"/>
                    </a:cubicBezTo>
                    <a:cubicBezTo>
                      <a:pt x="941" y="53"/>
                      <a:pt x="941" y="53"/>
                      <a:pt x="941" y="53"/>
                    </a:cubicBezTo>
                    <a:cubicBezTo>
                      <a:pt x="911" y="45"/>
                      <a:pt x="911" y="45"/>
                      <a:pt x="911" y="45"/>
                    </a:cubicBezTo>
                    <a:cubicBezTo>
                      <a:pt x="877" y="35"/>
                      <a:pt x="842" y="32"/>
                      <a:pt x="798" y="30"/>
                    </a:cubicBezTo>
                    <a:cubicBezTo>
                      <a:pt x="795" y="29"/>
                      <a:pt x="795" y="29"/>
                      <a:pt x="795" y="29"/>
                    </a:cubicBezTo>
                    <a:cubicBezTo>
                      <a:pt x="784" y="30"/>
                      <a:pt x="784" y="30"/>
                      <a:pt x="784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13"/>
              <p:cNvSpPr>
                <a:spLocks noEditPoints="1"/>
              </p:cNvSpPr>
              <p:nvPr/>
            </p:nvSpPr>
            <p:spPr bwMode="auto">
              <a:xfrm>
                <a:off x="5649913" y="4264025"/>
                <a:ext cx="3127375" cy="1230313"/>
              </a:xfrm>
              <a:custGeom>
                <a:avLst/>
                <a:gdLst>
                  <a:gd name="T0" fmla="*/ 2002 w 2852"/>
                  <a:gd name="T1" fmla="*/ 0 h 1123"/>
                  <a:gd name="T2" fmla="*/ 1595 w 2852"/>
                  <a:gd name="T3" fmla="*/ 742 h 1123"/>
                  <a:gd name="T4" fmla="*/ 1535 w 2852"/>
                  <a:gd name="T5" fmla="*/ 565 h 1123"/>
                  <a:gd name="T6" fmla="*/ 1646 w 2852"/>
                  <a:gd name="T7" fmla="*/ 342 h 1123"/>
                  <a:gd name="T8" fmla="*/ 1423 w 2852"/>
                  <a:gd name="T9" fmla="*/ 119 h 1123"/>
                  <a:gd name="T10" fmla="*/ 1200 w 2852"/>
                  <a:gd name="T11" fmla="*/ 342 h 1123"/>
                  <a:gd name="T12" fmla="*/ 1312 w 2852"/>
                  <a:gd name="T13" fmla="*/ 565 h 1123"/>
                  <a:gd name="T14" fmla="*/ 1240 w 2852"/>
                  <a:gd name="T15" fmla="*/ 746 h 1123"/>
                  <a:gd name="T16" fmla="*/ 844 w 2852"/>
                  <a:gd name="T17" fmla="*/ 0 h 1123"/>
                  <a:gd name="T18" fmla="*/ 0 w 2852"/>
                  <a:gd name="T19" fmla="*/ 889 h 1123"/>
                  <a:gd name="T20" fmla="*/ 173 w 2852"/>
                  <a:gd name="T21" fmla="*/ 1123 h 1123"/>
                  <a:gd name="T22" fmla="*/ 2678 w 2852"/>
                  <a:gd name="T23" fmla="*/ 1123 h 1123"/>
                  <a:gd name="T24" fmla="*/ 2852 w 2852"/>
                  <a:gd name="T25" fmla="*/ 890 h 1123"/>
                  <a:gd name="T26" fmla="*/ 2002 w 2852"/>
                  <a:gd name="T27" fmla="*/ 0 h 1123"/>
                  <a:gd name="T28" fmla="*/ 2586 w 2852"/>
                  <a:gd name="T29" fmla="*/ 447 h 1123"/>
                  <a:gd name="T30" fmla="*/ 2586 w 2852"/>
                  <a:gd name="T31" fmla="*/ 447 h 1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52" h="1123">
                    <a:moveTo>
                      <a:pt x="2002" y="0"/>
                    </a:moveTo>
                    <a:cubicBezTo>
                      <a:pt x="1595" y="742"/>
                      <a:pt x="1595" y="742"/>
                      <a:pt x="1595" y="742"/>
                    </a:cubicBezTo>
                    <a:cubicBezTo>
                      <a:pt x="1535" y="565"/>
                      <a:pt x="1535" y="565"/>
                      <a:pt x="1535" y="565"/>
                    </a:cubicBezTo>
                    <a:cubicBezTo>
                      <a:pt x="1646" y="342"/>
                      <a:pt x="1646" y="342"/>
                      <a:pt x="1646" y="342"/>
                    </a:cubicBezTo>
                    <a:cubicBezTo>
                      <a:pt x="1423" y="119"/>
                      <a:pt x="1423" y="119"/>
                      <a:pt x="1423" y="119"/>
                    </a:cubicBezTo>
                    <a:cubicBezTo>
                      <a:pt x="1200" y="342"/>
                      <a:pt x="1200" y="342"/>
                      <a:pt x="1200" y="342"/>
                    </a:cubicBezTo>
                    <a:cubicBezTo>
                      <a:pt x="1312" y="565"/>
                      <a:pt x="1312" y="565"/>
                      <a:pt x="1312" y="565"/>
                    </a:cubicBezTo>
                    <a:cubicBezTo>
                      <a:pt x="1240" y="746"/>
                      <a:pt x="1240" y="746"/>
                      <a:pt x="1240" y="746"/>
                    </a:cubicBezTo>
                    <a:cubicBezTo>
                      <a:pt x="844" y="0"/>
                      <a:pt x="844" y="0"/>
                      <a:pt x="844" y="0"/>
                    </a:cubicBezTo>
                    <a:cubicBezTo>
                      <a:pt x="844" y="0"/>
                      <a:pt x="0" y="447"/>
                      <a:pt x="0" y="889"/>
                    </a:cubicBezTo>
                    <a:cubicBezTo>
                      <a:pt x="0" y="1011"/>
                      <a:pt x="50" y="1123"/>
                      <a:pt x="173" y="1123"/>
                    </a:cubicBezTo>
                    <a:cubicBezTo>
                      <a:pt x="2678" y="1123"/>
                      <a:pt x="2678" y="1123"/>
                      <a:pt x="2678" y="1123"/>
                    </a:cubicBezTo>
                    <a:cubicBezTo>
                      <a:pt x="2800" y="1123"/>
                      <a:pt x="2852" y="1012"/>
                      <a:pt x="2852" y="890"/>
                    </a:cubicBezTo>
                    <a:cubicBezTo>
                      <a:pt x="2852" y="475"/>
                      <a:pt x="2002" y="0"/>
                      <a:pt x="2002" y="0"/>
                    </a:cubicBezTo>
                    <a:moveTo>
                      <a:pt x="2586" y="447"/>
                    </a:moveTo>
                    <a:cubicBezTo>
                      <a:pt x="2586" y="447"/>
                      <a:pt x="2586" y="447"/>
                      <a:pt x="2586" y="44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14"/>
              <p:cNvSpPr>
                <a:spLocks noEditPoints="1"/>
              </p:cNvSpPr>
              <p:nvPr/>
            </p:nvSpPr>
            <p:spPr bwMode="auto">
              <a:xfrm>
                <a:off x="6415088" y="2301875"/>
                <a:ext cx="1603375" cy="1984375"/>
              </a:xfrm>
              <a:custGeom>
                <a:avLst/>
                <a:gdLst>
                  <a:gd name="T0" fmla="*/ 1460 w 1462"/>
                  <a:gd name="T1" fmla="*/ 878 h 1812"/>
                  <a:gd name="T2" fmla="*/ 1460 w 1462"/>
                  <a:gd name="T3" fmla="*/ 844 h 1812"/>
                  <a:gd name="T4" fmla="*/ 1430 w 1462"/>
                  <a:gd name="T5" fmla="*/ 824 h 1812"/>
                  <a:gd name="T6" fmla="*/ 1420 w 1462"/>
                  <a:gd name="T7" fmla="*/ 817 h 1812"/>
                  <a:gd name="T8" fmla="*/ 764 w 1462"/>
                  <a:gd name="T9" fmla="*/ 90 h 1812"/>
                  <a:gd name="T10" fmla="*/ 193 w 1462"/>
                  <a:gd name="T11" fmla="*/ 151 h 1812"/>
                  <a:gd name="T12" fmla="*/ 61 w 1462"/>
                  <a:gd name="T13" fmla="*/ 806 h 1812"/>
                  <a:gd name="T14" fmla="*/ 31 w 1462"/>
                  <a:gd name="T15" fmla="*/ 824 h 1812"/>
                  <a:gd name="T16" fmla="*/ 2 w 1462"/>
                  <a:gd name="T17" fmla="*/ 844 h 1812"/>
                  <a:gd name="T18" fmla="*/ 2 w 1462"/>
                  <a:gd name="T19" fmla="*/ 878 h 1812"/>
                  <a:gd name="T20" fmla="*/ 36 w 1462"/>
                  <a:gd name="T21" fmla="*/ 1103 h 1812"/>
                  <a:gd name="T22" fmla="*/ 135 w 1462"/>
                  <a:gd name="T23" fmla="*/ 1219 h 1812"/>
                  <a:gd name="T24" fmla="*/ 356 w 1462"/>
                  <a:gd name="T25" fmla="*/ 1624 h 1812"/>
                  <a:gd name="T26" fmla="*/ 722 w 1462"/>
                  <a:gd name="T27" fmla="*/ 1810 h 1812"/>
                  <a:gd name="T28" fmla="*/ 734 w 1462"/>
                  <a:gd name="T29" fmla="*/ 1812 h 1812"/>
                  <a:gd name="T30" fmla="*/ 747 w 1462"/>
                  <a:gd name="T31" fmla="*/ 1810 h 1812"/>
                  <a:gd name="T32" fmla="*/ 1123 w 1462"/>
                  <a:gd name="T33" fmla="*/ 1613 h 1812"/>
                  <a:gd name="T34" fmla="*/ 1332 w 1462"/>
                  <a:gd name="T35" fmla="*/ 1216 h 1812"/>
                  <a:gd name="T36" fmla="*/ 1427 w 1462"/>
                  <a:gd name="T37" fmla="*/ 1099 h 1812"/>
                  <a:gd name="T38" fmla="*/ 1460 w 1462"/>
                  <a:gd name="T39" fmla="*/ 878 h 1812"/>
                  <a:gd name="T40" fmla="*/ 1301 w 1462"/>
                  <a:gd name="T41" fmla="*/ 1049 h 1812"/>
                  <a:gd name="T42" fmla="*/ 1252 w 1462"/>
                  <a:gd name="T43" fmla="*/ 1105 h 1812"/>
                  <a:gd name="T44" fmla="*/ 1218 w 1462"/>
                  <a:gd name="T45" fmla="*/ 1117 h 1812"/>
                  <a:gd name="T46" fmla="*/ 1209 w 1462"/>
                  <a:gd name="T47" fmla="*/ 1151 h 1812"/>
                  <a:gd name="T48" fmla="*/ 1024 w 1462"/>
                  <a:gd name="T49" fmla="*/ 1520 h 1812"/>
                  <a:gd name="T50" fmla="*/ 732 w 1462"/>
                  <a:gd name="T51" fmla="*/ 1675 h 1812"/>
                  <a:gd name="T52" fmla="*/ 454 w 1462"/>
                  <a:gd name="T53" fmla="*/ 1530 h 1812"/>
                  <a:gd name="T54" fmla="*/ 257 w 1462"/>
                  <a:gd name="T55" fmla="*/ 1153 h 1812"/>
                  <a:gd name="T56" fmla="*/ 248 w 1462"/>
                  <a:gd name="T57" fmla="*/ 1117 h 1812"/>
                  <a:gd name="T58" fmla="*/ 212 w 1462"/>
                  <a:gd name="T59" fmla="*/ 1106 h 1812"/>
                  <a:gd name="T60" fmla="*/ 162 w 1462"/>
                  <a:gd name="T61" fmla="*/ 1051 h 1812"/>
                  <a:gd name="T62" fmla="*/ 139 w 1462"/>
                  <a:gd name="T63" fmla="*/ 942 h 1812"/>
                  <a:gd name="T64" fmla="*/ 227 w 1462"/>
                  <a:gd name="T65" fmla="*/ 939 h 1812"/>
                  <a:gd name="T66" fmla="*/ 233 w 1462"/>
                  <a:gd name="T67" fmla="*/ 918 h 1812"/>
                  <a:gd name="T68" fmla="*/ 234 w 1462"/>
                  <a:gd name="T69" fmla="*/ 919 h 1812"/>
                  <a:gd name="T70" fmla="*/ 237 w 1462"/>
                  <a:gd name="T71" fmla="*/ 904 h 1812"/>
                  <a:gd name="T72" fmla="*/ 268 w 1462"/>
                  <a:gd name="T73" fmla="*/ 579 h 1812"/>
                  <a:gd name="T74" fmla="*/ 281 w 1462"/>
                  <a:gd name="T75" fmla="*/ 545 h 1812"/>
                  <a:gd name="T76" fmla="*/ 908 w 1462"/>
                  <a:gd name="T77" fmla="*/ 472 h 1812"/>
                  <a:gd name="T78" fmla="*/ 868 w 1462"/>
                  <a:gd name="T79" fmla="*/ 579 h 1812"/>
                  <a:gd name="T80" fmla="*/ 908 w 1462"/>
                  <a:gd name="T81" fmla="*/ 586 h 1812"/>
                  <a:gd name="T82" fmla="*/ 954 w 1462"/>
                  <a:gd name="T83" fmla="*/ 514 h 1812"/>
                  <a:gd name="T84" fmla="*/ 948 w 1462"/>
                  <a:gd name="T85" fmla="*/ 565 h 1812"/>
                  <a:gd name="T86" fmla="*/ 991 w 1462"/>
                  <a:gd name="T87" fmla="*/ 570 h 1812"/>
                  <a:gd name="T88" fmla="*/ 1018 w 1462"/>
                  <a:gd name="T89" fmla="*/ 488 h 1812"/>
                  <a:gd name="T90" fmla="*/ 1181 w 1462"/>
                  <a:gd name="T91" fmla="*/ 536 h 1812"/>
                  <a:gd name="T92" fmla="*/ 1220 w 1462"/>
                  <a:gd name="T93" fmla="*/ 858 h 1812"/>
                  <a:gd name="T94" fmla="*/ 1231 w 1462"/>
                  <a:gd name="T95" fmla="*/ 916 h 1812"/>
                  <a:gd name="T96" fmla="*/ 1251 w 1462"/>
                  <a:gd name="T97" fmla="*/ 915 h 1812"/>
                  <a:gd name="T98" fmla="*/ 1260 w 1462"/>
                  <a:gd name="T99" fmla="*/ 946 h 1812"/>
                  <a:gd name="T100" fmla="*/ 1323 w 1462"/>
                  <a:gd name="T101" fmla="*/ 942 h 1812"/>
                  <a:gd name="T102" fmla="*/ 1301 w 1462"/>
                  <a:gd name="T103" fmla="*/ 1049 h 1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462" h="1812">
                    <a:moveTo>
                      <a:pt x="1460" y="878"/>
                    </a:moveTo>
                    <a:cubicBezTo>
                      <a:pt x="1460" y="844"/>
                      <a:pt x="1460" y="844"/>
                      <a:pt x="1460" y="844"/>
                    </a:cubicBezTo>
                    <a:cubicBezTo>
                      <a:pt x="1430" y="824"/>
                      <a:pt x="1430" y="824"/>
                      <a:pt x="1430" y="824"/>
                    </a:cubicBezTo>
                    <a:cubicBezTo>
                      <a:pt x="1427" y="822"/>
                      <a:pt x="1423" y="819"/>
                      <a:pt x="1420" y="817"/>
                    </a:cubicBezTo>
                    <a:cubicBezTo>
                      <a:pt x="1360" y="303"/>
                      <a:pt x="1364" y="0"/>
                      <a:pt x="764" y="90"/>
                    </a:cubicBezTo>
                    <a:cubicBezTo>
                      <a:pt x="553" y="121"/>
                      <a:pt x="323" y="56"/>
                      <a:pt x="193" y="151"/>
                    </a:cubicBezTo>
                    <a:cubicBezTo>
                      <a:pt x="28" y="305"/>
                      <a:pt x="16" y="535"/>
                      <a:pt x="61" y="806"/>
                    </a:cubicBezTo>
                    <a:cubicBezTo>
                      <a:pt x="51" y="811"/>
                      <a:pt x="41" y="817"/>
                      <a:pt x="31" y="824"/>
                    </a:cubicBezTo>
                    <a:cubicBezTo>
                      <a:pt x="2" y="844"/>
                      <a:pt x="2" y="844"/>
                      <a:pt x="2" y="844"/>
                    </a:cubicBezTo>
                    <a:cubicBezTo>
                      <a:pt x="2" y="878"/>
                      <a:pt x="2" y="878"/>
                      <a:pt x="2" y="878"/>
                    </a:cubicBezTo>
                    <a:cubicBezTo>
                      <a:pt x="0" y="969"/>
                      <a:pt x="11" y="1045"/>
                      <a:pt x="36" y="1103"/>
                    </a:cubicBezTo>
                    <a:cubicBezTo>
                      <a:pt x="58" y="1156"/>
                      <a:pt x="91" y="1195"/>
                      <a:pt x="135" y="1219"/>
                    </a:cubicBezTo>
                    <a:cubicBezTo>
                      <a:pt x="187" y="1396"/>
                      <a:pt x="262" y="1528"/>
                      <a:pt x="356" y="1624"/>
                    </a:cubicBezTo>
                    <a:cubicBezTo>
                      <a:pt x="459" y="1728"/>
                      <a:pt x="582" y="1787"/>
                      <a:pt x="722" y="1810"/>
                    </a:cubicBezTo>
                    <a:cubicBezTo>
                      <a:pt x="734" y="1812"/>
                      <a:pt x="734" y="1812"/>
                      <a:pt x="734" y="1812"/>
                    </a:cubicBezTo>
                    <a:cubicBezTo>
                      <a:pt x="747" y="1810"/>
                      <a:pt x="747" y="1810"/>
                      <a:pt x="747" y="1810"/>
                    </a:cubicBezTo>
                    <a:cubicBezTo>
                      <a:pt x="901" y="1777"/>
                      <a:pt x="1024" y="1716"/>
                      <a:pt x="1123" y="1613"/>
                    </a:cubicBezTo>
                    <a:cubicBezTo>
                      <a:pt x="1214" y="1517"/>
                      <a:pt x="1282" y="1388"/>
                      <a:pt x="1332" y="1216"/>
                    </a:cubicBezTo>
                    <a:cubicBezTo>
                      <a:pt x="1374" y="1192"/>
                      <a:pt x="1406" y="1152"/>
                      <a:pt x="1427" y="1099"/>
                    </a:cubicBezTo>
                    <a:cubicBezTo>
                      <a:pt x="1451" y="1042"/>
                      <a:pt x="1462" y="967"/>
                      <a:pt x="1460" y="878"/>
                    </a:cubicBezTo>
                    <a:close/>
                    <a:moveTo>
                      <a:pt x="1301" y="1049"/>
                    </a:moveTo>
                    <a:cubicBezTo>
                      <a:pt x="1289" y="1078"/>
                      <a:pt x="1273" y="1098"/>
                      <a:pt x="1252" y="1105"/>
                    </a:cubicBezTo>
                    <a:cubicBezTo>
                      <a:pt x="1218" y="1117"/>
                      <a:pt x="1218" y="1117"/>
                      <a:pt x="1218" y="1117"/>
                    </a:cubicBezTo>
                    <a:cubicBezTo>
                      <a:pt x="1209" y="1151"/>
                      <a:pt x="1209" y="1151"/>
                      <a:pt x="1209" y="1151"/>
                    </a:cubicBezTo>
                    <a:cubicBezTo>
                      <a:pt x="1164" y="1316"/>
                      <a:pt x="1104" y="1436"/>
                      <a:pt x="1024" y="1520"/>
                    </a:cubicBezTo>
                    <a:cubicBezTo>
                      <a:pt x="948" y="1599"/>
                      <a:pt x="852" y="1648"/>
                      <a:pt x="732" y="1675"/>
                    </a:cubicBezTo>
                    <a:cubicBezTo>
                      <a:pt x="625" y="1655"/>
                      <a:pt x="532" y="1609"/>
                      <a:pt x="454" y="1530"/>
                    </a:cubicBezTo>
                    <a:cubicBezTo>
                      <a:pt x="370" y="1445"/>
                      <a:pt x="304" y="1322"/>
                      <a:pt x="257" y="1153"/>
                    </a:cubicBezTo>
                    <a:cubicBezTo>
                      <a:pt x="248" y="1117"/>
                      <a:pt x="248" y="1117"/>
                      <a:pt x="248" y="1117"/>
                    </a:cubicBezTo>
                    <a:cubicBezTo>
                      <a:pt x="212" y="1106"/>
                      <a:pt x="212" y="1106"/>
                      <a:pt x="212" y="1106"/>
                    </a:cubicBezTo>
                    <a:cubicBezTo>
                      <a:pt x="191" y="1099"/>
                      <a:pt x="174" y="1080"/>
                      <a:pt x="162" y="1051"/>
                    </a:cubicBezTo>
                    <a:cubicBezTo>
                      <a:pt x="150" y="1022"/>
                      <a:pt x="142" y="986"/>
                      <a:pt x="139" y="942"/>
                    </a:cubicBezTo>
                    <a:cubicBezTo>
                      <a:pt x="172" y="937"/>
                      <a:pt x="209" y="927"/>
                      <a:pt x="227" y="939"/>
                    </a:cubicBezTo>
                    <a:cubicBezTo>
                      <a:pt x="229" y="933"/>
                      <a:pt x="231" y="926"/>
                      <a:pt x="233" y="918"/>
                    </a:cubicBezTo>
                    <a:cubicBezTo>
                      <a:pt x="234" y="919"/>
                      <a:pt x="234" y="919"/>
                      <a:pt x="234" y="919"/>
                    </a:cubicBezTo>
                    <a:cubicBezTo>
                      <a:pt x="237" y="904"/>
                      <a:pt x="237" y="904"/>
                      <a:pt x="237" y="904"/>
                    </a:cubicBezTo>
                    <a:cubicBezTo>
                      <a:pt x="247" y="865"/>
                      <a:pt x="258" y="619"/>
                      <a:pt x="268" y="579"/>
                    </a:cubicBezTo>
                    <a:cubicBezTo>
                      <a:pt x="272" y="568"/>
                      <a:pt x="274" y="554"/>
                      <a:pt x="281" y="545"/>
                    </a:cubicBezTo>
                    <a:cubicBezTo>
                      <a:pt x="330" y="611"/>
                      <a:pt x="695" y="618"/>
                      <a:pt x="908" y="472"/>
                    </a:cubicBezTo>
                    <a:cubicBezTo>
                      <a:pt x="868" y="579"/>
                      <a:pt x="868" y="579"/>
                      <a:pt x="868" y="579"/>
                    </a:cubicBezTo>
                    <a:cubicBezTo>
                      <a:pt x="908" y="586"/>
                      <a:pt x="908" y="586"/>
                      <a:pt x="908" y="586"/>
                    </a:cubicBezTo>
                    <a:cubicBezTo>
                      <a:pt x="954" y="514"/>
                      <a:pt x="954" y="514"/>
                      <a:pt x="954" y="514"/>
                    </a:cubicBezTo>
                    <a:cubicBezTo>
                      <a:pt x="948" y="565"/>
                      <a:pt x="948" y="565"/>
                      <a:pt x="948" y="565"/>
                    </a:cubicBezTo>
                    <a:cubicBezTo>
                      <a:pt x="991" y="570"/>
                      <a:pt x="991" y="570"/>
                      <a:pt x="991" y="570"/>
                    </a:cubicBezTo>
                    <a:cubicBezTo>
                      <a:pt x="1018" y="488"/>
                      <a:pt x="1018" y="488"/>
                      <a:pt x="1018" y="488"/>
                    </a:cubicBezTo>
                    <a:cubicBezTo>
                      <a:pt x="1070" y="518"/>
                      <a:pt x="1129" y="558"/>
                      <a:pt x="1181" y="536"/>
                    </a:cubicBezTo>
                    <a:cubicBezTo>
                      <a:pt x="1198" y="575"/>
                      <a:pt x="1211" y="812"/>
                      <a:pt x="1220" y="858"/>
                    </a:cubicBezTo>
                    <a:cubicBezTo>
                      <a:pt x="1231" y="916"/>
                      <a:pt x="1231" y="916"/>
                      <a:pt x="1231" y="916"/>
                    </a:cubicBezTo>
                    <a:cubicBezTo>
                      <a:pt x="1251" y="915"/>
                      <a:pt x="1251" y="915"/>
                      <a:pt x="1251" y="915"/>
                    </a:cubicBezTo>
                    <a:cubicBezTo>
                      <a:pt x="1260" y="946"/>
                      <a:pt x="1260" y="946"/>
                      <a:pt x="1260" y="946"/>
                    </a:cubicBezTo>
                    <a:cubicBezTo>
                      <a:pt x="1283" y="943"/>
                      <a:pt x="1303" y="942"/>
                      <a:pt x="1323" y="942"/>
                    </a:cubicBezTo>
                    <a:cubicBezTo>
                      <a:pt x="1320" y="985"/>
                      <a:pt x="1312" y="1021"/>
                      <a:pt x="1301" y="10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8" name="等腰三角形 7"/>
          <p:cNvSpPr/>
          <p:nvPr/>
        </p:nvSpPr>
        <p:spPr>
          <a:xfrm>
            <a:off x="5939807" y="2098347"/>
            <a:ext cx="312387" cy="18765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2" rIns="85683" bIns="42842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580"/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680" y="79"/>
            <a:ext cx="3510030" cy="738427"/>
          </a:xfrm>
          <a:prstGeom prst="rect">
            <a:avLst/>
          </a:prstGeom>
        </p:spPr>
      </p:pic>
      <p:sp>
        <p:nvSpPr>
          <p:cNvPr id="4" name="页脚占位符 2"/>
          <p:cNvSpPr>
            <a:spLocks noGrp="1"/>
          </p:cNvSpPr>
          <p:nvPr/>
        </p:nvSpPr>
        <p:spPr>
          <a:xfrm>
            <a:off x="10530205" y="6481445"/>
            <a:ext cx="1205230" cy="15367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dist" defTabSz="914400" rtl="0" eaLnBrk="1" latinLnBrk="0" hangingPunct="1">
              <a:defRPr lang="zh-CN" altLang="en-US" sz="8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厚德博学，经世济民</a:t>
            </a:r>
          </a:p>
        </p:txBody>
      </p:sp>
    </p:spTree>
    <p:extLst>
      <p:ext uri="{BB962C8B-B14F-4D97-AF65-F5344CB8AC3E}">
        <p14:creationId xmlns:p14="http://schemas.microsoft.com/office/powerpoint/2010/main" val="196061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5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Scale>
                                          <p:cBhvr additive="base">
                                            <p:cTn id="8" dur="2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</p:cBhvr>
                                          <p:from x="500000" y="500000"/>
                                          <p:to x="120000" y="120000"/>
                                        </p:animScale>
                                        <p:animScale>
                                          <p:cBhvr additive="base">
                                            <p:cTn id="9" dur="250" fill="hold">
                                              <p:stCondLst>
                                                <p:cond delay="25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</p:cBhvr>
                                          <p:from x="120000" y="120000"/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2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7" presetID="10" presetClass="entr" presetSubtype="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7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Scale p14:bounceEnd="50000">
                                          <p:cBhvr additive="base">
                                            <p:cTn id="20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</p:cBhvr>
                                          <p:from x="0" y="0"/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22" presetID="10" presetClass="entr" presetSubtype="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7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Scale p14:bounceEnd="50000">
                                          <p:cBhvr additive="base">
                                            <p:cTn id="25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from x="0" y="0"/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bldLvl="0" animBg="1"/>
          <p:bldP spid="8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5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Scale>
                                          <p:cBhvr additive="base">
                                            <p:cTn id="8" dur="2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</p:cBhvr>
                                          <p:from x="500000" y="500000"/>
                                          <p:to x="120000" y="120000"/>
                                        </p:animScale>
                                        <p:animScale>
                                          <p:cBhvr additive="base">
                                            <p:cTn id="9" dur="250" fill="hold">
                                              <p:stCondLst>
                                                <p:cond delay="25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</p:cBhvr>
                                          <p:from x="120000" y="120000"/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2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7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7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Scale>
                                          <p:cBhvr additive="base">
                                            <p:cTn id="20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</p:cBhvr>
                                          <p:from x="0" y="0"/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5000"/>
                                      </p:iterate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Scale>
                                          <p:cBhvr additive="base">
                                            <p:cTn id="24" dur="2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from x="500000" y="500000"/>
                                          <p:to x="120000" y="120000"/>
                                        </p:animScale>
                                        <p:animScale>
                                          <p:cBhvr additive="base">
                                            <p:cTn id="25" dur="250" fill="hold">
                                              <p:stCondLst>
                                                <p:cond delay="25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from x="120000" y="120000"/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7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7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Scale>
                                          <p:cBhvr additive="base">
                                            <p:cTn id="30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from x="0" y="0"/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5000"/>
                                      </p:iterate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Scale>
                                          <p:cBhvr additive="base">
                                            <p:cTn id="34" dur="2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</p:cBhvr>
                                          <p:from x="500000" y="500000"/>
                                          <p:to x="120000" y="120000"/>
                                        </p:animScale>
                                        <p:animScale>
                                          <p:cBhvr additive="base">
                                            <p:cTn id="35" dur="250" fill="hold">
                                              <p:stCondLst>
                                                <p:cond delay="25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</p:cBhvr>
                                          <p:from x="120000" y="120000"/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bldLvl="0" animBg="1"/>
          <p:bldP spid="10" grpId="0"/>
          <p:bldP spid="12" grpId="0"/>
          <p:bldP spid="8" grpId="0" animBg="1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6d049f8-3399-49d9-93e3-bb8840754850"/>
  <p:tag name="COMMONDATA" val="eyJoZGlkIjoiYmVkZjk2NTZhYzBjN2VjNTI5ZmIyZjM4ZTcxYzQ5NDAifQ=="/>
</p:tagLst>
</file>

<file path=ppt/theme/theme1.xml><?xml version="1.0" encoding="utf-8"?>
<a:theme xmlns:a="http://schemas.openxmlformats.org/drawingml/2006/main" name="鲍鱼素材https://baoyusucai.taobao.com/">
  <a:themeElements>
    <a:clrScheme name="交大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5483"/>
      </a:accent1>
      <a:accent2>
        <a:srgbClr val="025483"/>
      </a:accent2>
      <a:accent3>
        <a:srgbClr val="025483"/>
      </a:accent3>
      <a:accent4>
        <a:srgbClr val="025483"/>
      </a:accent4>
      <a:accent5>
        <a:srgbClr val="025483"/>
      </a:accent5>
      <a:accent6>
        <a:srgbClr val="025483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1147</Words>
  <Application>Microsoft Office PowerPoint</Application>
  <PresentationFormat>宽屏</PresentationFormat>
  <Paragraphs>348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等线</vt:lpstr>
      <vt:lpstr>Microsoft YaHei</vt:lpstr>
      <vt:lpstr>Arial</vt:lpstr>
      <vt:lpstr>Calibri</vt:lpstr>
      <vt:lpstr>Wingdings</vt:lpstr>
      <vt:lpstr>鲍鱼素材https://baoyusucai.taobao.com/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x</cp:lastModifiedBy>
  <cp:revision>71</cp:revision>
  <dcterms:created xsi:type="dcterms:W3CDTF">2023-03-16T16:35:00Z</dcterms:created>
  <dcterms:modified xsi:type="dcterms:W3CDTF">2026-09-23T04:23:40Z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KSORubyTemplateID">
    <vt:lpwstr>8</vt:lpwstr>
  </property>
  <property fmtid="{D5CDD505-2E9C-101B-9397-08002B2CF9AE}" pid="4" name="ICV">
    <vt:lpwstr>8009CA9730EFFDDEBF3813649825FE83_43</vt:lpwstr>
  </property>
</Properties>
</file>